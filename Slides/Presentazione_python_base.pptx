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handoutMasterIdLst>
    <p:handoutMasterId r:id="rId19"/>
  </p:handoutMasterIdLst>
  <p:sldIdLst>
    <p:sldId id="257" r:id="rId6"/>
    <p:sldId id="267" r:id="rId7"/>
    <p:sldId id="260" r:id="rId8"/>
    <p:sldId id="262" r:id="rId9"/>
    <p:sldId id="263" r:id="rId10"/>
    <p:sldId id="273" r:id="rId11"/>
    <p:sldId id="325" r:id="rId26"/>
    <p:sldId id="326" r:id="rId27"/>
    <p:sldId id="327" r:id="rId28"/>
    <p:sldId id="328" r:id="rId29"/>
    <p:sldId id="329" r:id="rId30"/>
    <p:sldId id="270" r:id="rId12"/>
    <p:sldId id="330" r:id="rId31"/>
    <p:sldId id="331" r:id="rId32"/>
    <p:sldId id="332" r:id="rId33"/>
    <p:sldId id="333" r:id="rId34"/>
    <p:sldId id="259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8595B"/>
    <a:srgbClr val="89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C11E08-8C5A-4CB4-89CC-3E9AE0D7ADD2}" v="8" dt="2022-12-16T10:54:4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2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5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436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2.xml"/><Relationship Id="rId18" Type="http://schemas.openxmlformats.org/officeDocument/2006/relationships/slide" Target="slides/slide17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la Ferraro" userId="49ab112f-b347-4814-9bb1-f82a354b7d0b" providerId="ADAL" clId="{EBC11E08-8C5A-4CB4-89CC-3E9AE0D7ADD2}"/>
    <pc:docChg chg="undo custSel modSld modHandout">
      <pc:chgData name="Camilla Ferraro" userId="49ab112f-b347-4814-9bb1-f82a354b7d0b" providerId="ADAL" clId="{EBC11E08-8C5A-4CB4-89CC-3E9AE0D7ADD2}" dt="2022-12-16T10:54:42.245" v="7"/>
      <pc:docMkLst>
        <pc:docMk/>
      </pc:docMkLst>
      <pc:sldChg chg="addSp delSp modSp mod">
        <pc:chgData name="Camilla Ferraro" userId="49ab112f-b347-4814-9bb1-f82a354b7d0b" providerId="ADAL" clId="{EBC11E08-8C5A-4CB4-89CC-3E9AE0D7ADD2}" dt="2022-12-16T10:54:42.245" v="7"/>
        <pc:sldMkLst>
          <pc:docMk/>
          <pc:sldMk cId="2706215062" sldId="258"/>
        </pc:sldMkLst>
        <pc:spChg chg="add del mod">
          <ac:chgData name="Camilla Ferraro" userId="49ab112f-b347-4814-9bb1-f82a354b7d0b" providerId="ADAL" clId="{EBC11E08-8C5A-4CB4-89CC-3E9AE0D7ADD2}" dt="2022-12-16T10:53:46.150" v="4" actId="478"/>
          <ac:spMkLst>
            <pc:docMk/>
            <pc:sldMk cId="2706215062" sldId="258"/>
            <ac:spMk id="2" creationId="{0D44854F-2D30-FA80-801A-BA45E86EE13F}"/>
          </ac:spMkLst>
        </pc:spChg>
        <pc:spChg chg="add del mod">
          <ac:chgData name="Camilla Ferraro" userId="49ab112f-b347-4814-9bb1-f82a354b7d0b" providerId="ADAL" clId="{EBC11E08-8C5A-4CB4-89CC-3E9AE0D7ADD2}" dt="2022-12-16T10:54:42.245" v="7"/>
          <ac:spMkLst>
            <pc:docMk/>
            <pc:sldMk cId="2706215062" sldId="258"/>
            <ac:spMk id="3" creationId="{7A63DEEA-CAD2-2FBB-8257-7F5A24B5E1CD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E20D6645-5278-6CCA-6690-3F9DC37A1A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745A6D-A636-1206-EF24-EF19507B23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9FFCA-9520-4AE8-9003-3CDBD32AD1F7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1E56C97-25AF-7D09-0034-2BD9AC15E0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E86A227-0930-4D9F-CB94-28D812FF86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F87A0-7828-4269-8341-9454712A2AC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14802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 descr="Immagine che contiene testo&#10;&#10;Descrizione generata automaticamente">
            <a:extLst>
              <a:ext uri="{FF2B5EF4-FFF2-40B4-BE49-F238E27FC236}">
                <a16:creationId xmlns:a16="http://schemas.microsoft.com/office/drawing/2014/main" id="{578AA91A-73FD-EB7E-72E2-50689112A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1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7CACEA95-C9ED-FF5A-FD6D-F622E228A8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763254F8-7CB6-731E-7C35-AE742138A1FF}"/>
              </a:ext>
            </a:extLst>
          </p:cNvPr>
          <p:cNvSpPr/>
          <p:nvPr userDrawn="1"/>
        </p:nvSpPr>
        <p:spPr>
          <a:xfrm>
            <a:off x="1009651" y="1643062"/>
            <a:ext cx="6772274" cy="3876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F273085-2B7A-8BE3-4BA0-FD5B42835D9C}"/>
              </a:ext>
            </a:extLst>
          </p:cNvPr>
          <p:cNvSpPr/>
          <p:nvPr userDrawn="1"/>
        </p:nvSpPr>
        <p:spPr>
          <a:xfrm>
            <a:off x="1181101" y="1490662"/>
            <a:ext cx="6772274" cy="3876675"/>
          </a:xfrm>
          <a:prstGeom prst="rect">
            <a:avLst/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09EBEF7-0E8A-5937-A3C1-4B8DFD3E39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-542925"/>
            <a:ext cx="2734769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72EB754-DA8F-066B-7509-4FB0063856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-1" y="-1"/>
            <a:ext cx="12192000" cy="685800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57F5EFD-4F86-A020-66EB-FB05367E0E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579" y="-94890"/>
            <a:ext cx="4470117" cy="446832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606087-189D-BA23-9783-4CFDADE290CE}"/>
              </a:ext>
            </a:extLst>
          </p:cNvPr>
          <p:cNvSpPr txBox="1"/>
          <p:nvPr userDrawn="1"/>
        </p:nvSpPr>
        <p:spPr>
          <a:xfrm>
            <a:off x="5033513" y="3264837"/>
            <a:ext cx="21249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i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Grazie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3B2DC7D-FFE9-582B-3C4A-382FBEB95FC2}"/>
              </a:ext>
            </a:extLst>
          </p:cNvPr>
          <p:cNvSpPr txBox="1"/>
          <p:nvPr userDrawn="1"/>
        </p:nvSpPr>
        <p:spPr>
          <a:xfrm>
            <a:off x="100939" y="6338811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www.ikn.it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6457F3-6F7E-39EE-7B4F-CDEE6CC8F635}"/>
              </a:ext>
            </a:extLst>
          </p:cNvPr>
          <p:cNvSpPr txBox="1"/>
          <p:nvPr userDrawn="1"/>
        </p:nvSpPr>
        <p:spPr>
          <a:xfrm>
            <a:off x="10833986" y="6290564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@iKN </a:t>
            </a:r>
            <a:r>
              <a:rPr lang="it-IT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Italy</a:t>
            </a:r>
            <a:endParaRPr lang="it-IT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D300300-1264-307A-EDAC-6394B4BCEA65}"/>
              </a:ext>
            </a:extLst>
          </p:cNvPr>
          <p:cNvSpPr/>
          <p:nvPr userDrawn="1"/>
        </p:nvSpPr>
        <p:spPr>
          <a:xfrm>
            <a:off x="10319751" y="6242316"/>
            <a:ext cx="465827" cy="465827"/>
          </a:xfrm>
          <a:prstGeom prst="round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3" name="Immagine 12" descr="Immagine che contiene testo, silhouette, grafica vettoriale, clipart&#10;&#10;Descrizione generata automaticamente">
            <a:extLst>
              <a:ext uri="{FF2B5EF4-FFF2-40B4-BE49-F238E27FC236}">
                <a16:creationId xmlns:a16="http://schemas.microsoft.com/office/drawing/2014/main" id="{E091475D-E198-B72B-6E8C-DB38AAC256B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105" y="6279628"/>
            <a:ext cx="355121" cy="35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0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DEA0-EC27-68C4-E0DF-253CDFCF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CFA6F-2542-468F-CFC9-905E307BAF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7E86FF-A51F-0B1B-A2C5-EB248966A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C7B65C-D71A-D862-EB3A-45C07F86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CB994AF-DB97-61E4-2CF7-59EFD5A32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62BDF8-B2CE-3D7F-A034-65D788A5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0887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1922A-B41B-02A5-8FAA-1500E77C1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A4AAEF8-2E0F-43BD-7424-8CFD2751C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16FB50-2887-B06A-D8B1-FE271CA71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CA8AE9E0-380A-46BE-FB0A-B57F7E69C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5C628A8-A886-B280-50B3-3CEA439E4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1EEF482-501D-4623-E9F0-7F421DBEA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7655562-227D-164B-89EC-6947891F5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8485B4D-ACDE-A094-E919-5A285F3AA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075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F34C3-CA2D-4ABE-B69B-A256A8DE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ECD1762-BE79-81B6-9E19-36267C7ED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ADF9BD-8F56-8DBD-6999-19EFC09CE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1D91912-F444-691F-6BD2-D1EBFA510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7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EE78A7B-F61E-8AE9-36A1-8441136C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BD61FF2-D694-7341-A38D-F1DFA5AA1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DAB866-68FC-8209-C510-4EBC85EB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753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76AB11-A65A-8E3C-095B-50E9EC63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BB72B-BCCF-4626-8070-F658EEE55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199659-6BF8-D2D5-F140-6B5082531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E73A2DE-C435-C5F5-9D6D-64B81524C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BB3278-A89A-9228-E659-099E6065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DD1D92-1C7D-6C09-84EF-974C09F1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6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C2805F-14FE-67E0-5642-C54D09D0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D653A34-1E9F-F18B-2B34-8A831CE3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D8601A0-C3AA-3071-5CC2-E9812FC65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311CC93-8B0F-6E5E-13B9-41EC1D16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1CEEEE-657C-FA25-7D72-BF9D9C3B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DA02E15-BE49-BEFC-E70B-F6108C0B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97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C0B3E8-2F74-B124-36E2-5AFEEC835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CD03CF7-E8EC-A6D9-E7F2-0D87B4B7C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3DD205-D8AA-3939-8E0E-F8593331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62FD6A0-935B-CDFF-26B0-F1B04B89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9602DB-69F4-97F0-D07E-EA370A442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6196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9300F2B-70E7-9150-FD03-5A4615AFD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78EB15F-ACBC-61D5-338E-E8695846D8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3694C23-11E8-894A-76B1-6DB61F5A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D2EF5-4859-BBA1-4B0A-2A509C4E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19638D-7810-F1EE-87DD-A8529C7A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572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87172-F901-2B03-7658-8CD504697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2786E-4962-473A-7F20-810FB32B2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351459-77DD-967B-622B-612228125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F07B1A-47B5-F77E-BAD1-7EAE1C8F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FD1F39-A1A0-45CE-6168-420459E3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13491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CD6F3E-942F-3DB4-0C66-7BE0BE6C5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C0FDF-96FC-A7D1-5442-9D8BBEEB1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F2FAAC-CD56-4D38-1B97-1B52FAE08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E89904-4FCF-C1A0-BD17-A2CB314F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DF2EC6-717D-11B0-B56A-D44B3B9F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9900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C5AEC-DD7B-DED3-F44D-49F6ACAE7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6498FA-B45E-6F70-19A5-D8BFBA019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4EB9E9-FB2D-C8C1-6D4D-213638AD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63C8DA-C917-B909-B85C-19859D38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E2DCF4-6492-E9C4-EACA-22D454D4C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2668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7AAAA-3375-3386-F0A7-AFBB7658B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6C8E28-13CB-D761-0093-6921570F4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5D987-4945-2B8E-4C89-6C0D133939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5A3B09B-AE27-86DB-3E0E-0B27B388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324CE0D-3631-C445-0B9F-F1D5BA489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2D53B01-51F1-A097-8619-6DC99A63E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295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F3696A-8A5D-EA2D-C247-D8D3DF396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5348E3-2EEE-74AB-9497-A8AC04E19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97068D7-427A-E453-2097-7226DACAF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A630F2C-E9A7-3352-E071-D0BDB8285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B79293D-D7E4-3706-8CD6-A4E9E1892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346C68E-1316-8F7C-981C-47873991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F1F11E6-59F3-61EA-5FEE-6BCA915E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51713AD-ED88-C23E-FC45-FBEA4239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4717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635385-F2BC-41E6-3D56-D4B2373C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8C088C-68A7-838D-DFAF-DF5A47CD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63E6244-775D-0AC0-B323-F7C15FB64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D3BA853-1EE9-B5FA-E3A6-651D39E0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90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012071-BC36-E9E8-F215-7ACE26DEA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21853A3-68BB-34BA-4E1F-2CC483385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8705B8-E8DC-82F2-CC57-6883D542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23216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B7344F-9D5E-2704-BFDB-B60716BE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00142E-4A2D-2EB0-1121-22F1E6AE3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0226A41-9563-EA1E-BB04-E217D5208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4B283F-B340-AB16-F9F5-4BF98AD46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020A046-EE2E-2037-2246-D123D743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7EF1CAC-FC82-592D-492B-4494DD0A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3526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084EB5-5898-ECDA-2862-06BDFB294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D4A729C-F7FE-10E5-8587-54F27408E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E6DFFBC-1E3C-4978-BE7B-9ECC51D3E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9806538-72E8-0804-A967-A59F25843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3FE2C93-1517-3A5E-B042-1DE7AB5DE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F86E4D-0DC1-13D4-0B4A-DD7C0DE6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6325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7C874-1ADF-8C08-37F9-4A5F593A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C674C34-D5F1-9A07-F0C1-71FE56B3E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08EB8C-0871-018A-BB88-338A37FAC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C6549F-6B59-B047-735B-99E7FF440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E408E06-CB22-2110-32AF-EDCF6C283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19133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F372DEC-AD10-E044-EC1C-5FCFFDE8A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CE3BBD9-6C53-C013-C801-EE0DF0487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76223E-DFC6-AE2D-C40E-C7873FBBB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1D9353-EB8C-5D26-7AB2-196D57510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BA5D8D-CB2D-E4AB-81E3-21546F0A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8733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4A5F750-5EFA-7BBD-BF4F-5BA348FE2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4BCC3A5-93CC-7BF6-A512-C524808B0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E849335-A1A1-29AC-21F0-8AE4B5D4E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A94F30-A720-6709-21FD-5BEA44BC21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E2E1F-4D7A-14E4-FE78-BE0943AD1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400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BADC55-4440-E779-FE63-A84C7BA7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6B7A42-368B-FD88-63AC-32EDEE85B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7E7C50-966F-876A-886C-89E8FD977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B74B53-3869-C23D-C6E9-DC4E10D27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527140-8739-4F9C-A948-D24F349FF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3663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890DC9C-CB45-9424-94F5-61BF2B3A9A9A}"/>
              </a:ext>
            </a:extLst>
          </p:cNvPr>
          <p:cNvSpPr txBox="1"/>
          <p:nvPr/>
        </p:nvSpPr>
        <p:spPr>
          <a:xfrm>
            <a:off x="1140821" y="1933303"/>
            <a:ext cx="625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PYTHON BASE: STRUMENTO DI DATA SCIENCE PER IL MERCATO ENERGETICO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86DC91-CD5B-5810-8341-13ABB89BF745}"/>
              </a:ext>
            </a:extLst>
          </p:cNvPr>
          <p:cNvSpPr txBox="1"/>
          <p:nvPr/>
        </p:nvSpPr>
        <p:spPr>
          <a:xfrm>
            <a:off x="1140820" y="2865119"/>
            <a:ext cx="6252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23, 30 Gennaio, 2026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46A3590-C6EF-D1F7-EF3A-B2A02C276022}"/>
              </a:ext>
            </a:extLst>
          </p:cNvPr>
          <p:cNvSpPr txBox="1"/>
          <p:nvPr/>
        </p:nvSpPr>
        <p:spPr>
          <a:xfrm>
            <a:off x="1140821" y="3992881"/>
            <a:ext cx="6687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Docente: </a:t>
            </a:r>
          </a:p>
          <a:p>
            <a:r>
              <a:rPr lang="it-IT" sz="24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Andrea Corvaglia</a:t>
            </a:r>
            <a:endParaRPr lang="it-IT" sz="2400" b="1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263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/>
            </a:lvl1pPr>
          </a:lstStyle>
          <a:p>
            <a:pPr algn="l"/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PROGRAMMA DEL CORSO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Giorno 1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IT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35D6CF70-56AF-A22D-3A00-8DCF34467A4A}"/>
              </a:ext>
            </a:extLst>
          </p:cNvPr>
          <p:cNvSpPr txBox="1"/>
          <p:nvPr/>
        </p:nvSpPr>
        <p:spPr>
          <a:xfrm>
            <a:off x="2682240" y="24702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94ABEB5-4007-7951-0296-A03837E8A214}"/>
              </a:ext>
            </a:extLst>
          </p:cNvPr>
          <p:cNvSpPr txBox="1"/>
          <p:nvPr/>
        </p:nvSpPr>
        <p:spPr>
          <a:xfrm>
            <a:off x="606829" y="1419107"/>
            <a:ext cx="113634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1: Setup, Python e sintassi di base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Jupyter e i notebook; Python: variabili, numeri, stringhe, import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Tipi di dato: liste, tuple, dizionari, set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Codice leggibile: commenti, docstring, PEP 8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1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2: Controllo del flusso, funzioni e primi dati in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Funzioni e controllo del flusso (Avanzata: lambda, comprehension, generatori)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Oggetti ed errori: attributi, metodi, leggere un traceback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pandas: Series e DataFrame; dati da CSV, Excel, database SQL (Avanzata: API)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2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Homework tra le due giornate</a:t>
            </a: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: una settimana nell'ufficio Analisi Consumi</a:t>
            </a:r>
          </a:p>
        </p:txBody>
      </p:sp>
    </p:spTree>
    <p:extLst>
      <p:ext uri="{BB962C8B-B14F-4D97-AF65-F5344CB8AC3E}">
        <p14:creationId xmlns:p14="http://schemas.microsoft.com/office/powerpoint/2010/main" val="4530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0526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IT"/>
              <a:t>PROGRAMMA DEL CORSO</a:t>
            </a:r>
            <a:r>
              <a:rPr lang="it-IT" dirty="0"/>
              <a:t> (Giorno </a:t>
            </a:r>
            <a:r>
              <a:rPr lang="it-IT"/>
              <a:t>2)</a:t>
            </a:r>
            <a:endParaRPr lang="en-IT" dirty="0"/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51652B5A-8054-7C9C-4AAB-FD2822BDA600}"/>
              </a:ext>
            </a:extLst>
          </p:cNvPr>
          <p:cNvSpPr txBox="1"/>
          <p:nvPr/>
        </p:nvSpPr>
        <p:spPr>
          <a:xfrm>
            <a:off x="2682240" y="32799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80BE9D2-A54B-6834-7CBB-690FDDAC4B94}"/>
              </a:ext>
            </a:extLst>
          </p:cNvPr>
          <p:cNvSpPr txBox="1"/>
          <p:nvPr/>
        </p:nvSpPr>
        <p:spPr>
          <a:xfrm>
            <a:off x="606829" y="1422030"/>
            <a:ext cx="1128037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3: Analisi dei dati con pandas e visualizzazione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Operazioni sui DataFrame: filtri, valori mancanti, groupby, merge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Dati temporali: conversione, indice, resample, ora legale (Avanzata: shift, rolling)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Grafici interattivi con Plotly: linee, confronto tra serie, slider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3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4: Agenti per il coding e capstone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Copilot in VS Code: token, finestra di contesto, modelli, plan e agent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Leggere il codice scritto da un agente: import, costanti, funzioni, main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Capstone: il carico del Nord e la temperatura, dai file Terna al grafico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Soluzioni condivise a fine giornata</a:t>
            </a:r>
          </a:p>
        </p:txBody>
      </p:sp>
    </p:spTree>
    <p:extLst>
      <p:ext uri="{BB962C8B-B14F-4D97-AF65-F5344CB8AC3E}">
        <p14:creationId xmlns:p14="http://schemas.microsoft.com/office/powerpoint/2010/main" val="2403033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CORSO INTERATTIVO E PRATICO</a:t>
            </a:r>
            <a:endParaRPr lang="en-IT"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3D82EE8-F483-98A2-CB76-A9912C51200D}"/>
              </a:ext>
            </a:extLst>
          </p:cNvPr>
          <p:cNvSpPr txBox="1"/>
          <p:nvPr/>
        </p:nvSpPr>
        <p:spPr>
          <a:xfrm>
            <a:off x="548641" y="1201783"/>
            <a:ext cx="114578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Obiettivo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leggere, giudicare e guidare il codice, anche quando lo scrive un agente.</a:t>
            </a:r>
          </a:p>
          <a:p>
            <a:pPr marL="342900" indent="0">
              <a:buNone/>
            </a:pPr>
            <a:r>
              <a:rPr lang="it-IT" sz="2000" dirty="0" b="0">
                <a:latin typeface="Calibri" panose="020F0502020204030204" pitchFamily="34" charset="0"/>
                <a:cs typeface="Calibri" panose="020F0502020204030204" pitchFamily="34" charset="0"/>
              </a:rPr>
              <a:t>Si scrive codice a mano, in piccolo, per imparare a leggerlo.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Ambiente di sviluppo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VS Code e uv, un ambiente uguale per tutti, pronto con un comando.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Materiale didattico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Poche slide introduttive e notebook interattivi da modificare e testare.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Apprendimento attivo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Codice pratico su ogni argomento, con esercizi integrati nei notebook.</a:t>
            </a:r>
          </a:p>
          <a:p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Progetto finale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Caso d'uso pratico l'ultimo giorno.</a:t>
            </a:r>
          </a:p>
        </p:txBody>
      </p:sp>
    </p:spTree>
    <p:extLst>
      <p:ext uri="{BB962C8B-B14F-4D97-AF65-F5344CB8AC3E}">
        <p14:creationId xmlns:p14="http://schemas.microsoft.com/office/powerpoint/2010/main" val="2037669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F91116A-DD42-989F-0200-2BEF52A3FAB0}"/>
              </a:ext>
            </a:extLst>
          </p:cNvPr>
          <p:cNvSpPr txBox="1"/>
          <p:nvPr/>
        </p:nvSpPr>
        <p:spPr>
          <a:xfrm>
            <a:off x="606829" y="426315"/>
            <a:ext cx="713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PERCHÉ PYTHON, NEL 2026</a:t>
            </a:r>
            <a:endParaRPr lang="en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3EBA63-B0C9-4C16-E5EF-70969C433C38}"/>
              </a:ext>
            </a:extLst>
          </p:cNvPr>
          <p:cNvSpPr txBox="1"/>
          <p:nvPr/>
        </p:nvSpPr>
        <p:spPr>
          <a:xfrm>
            <a:off x="606829" y="1335725"/>
            <a:ext cx="716459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1. È la lingua degli agenti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Copilot, Claude Code e Codex scrivono l'analisi dati in Python: per giudicarla bisogna leggerla.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Le librerie fanno il lavoro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pandas, Plotly, requests: codice scritto da altri che va riconosciuto, non riscritto.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3. Leggere è la competenza che resta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 sa cosa è una funzione, un metodo, un errore, capisce anche il codice che non ha scritto.</a:t>
            </a:r>
          </a:p>
        </p:txBody>
      </p:sp>
      <p:pic>
        <p:nvPicPr>
          <p:cNvPr id="6" name="Picture 2" descr="Python Programming Fundamentals - Learners Galaxy">
            <a:extLst>
              <a:ext uri="{FF2B5EF4-FFF2-40B4-BE49-F238E27FC236}">
                <a16:creationId xmlns:a16="http://schemas.microsoft.com/office/drawing/2014/main" id="{2D0D7024-8124-4A28-933B-5D517AC7B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586" y="480072"/>
            <a:ext cx="4557890" cy="256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585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9476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COSA SAPREMO FARE ALLA FINE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83F81E-0E72-1D3A-595D-3856002E7D05}"/>
              </a:ext>
            </a:extLst>
          </p:cNvPr>
          <p:cNvSpPr txBox="1"/>
          <p:nvPr/>
        </p:nvSpPr>
        <p:spPr>
          <a:xfrm>
            <a:off x="606827" y="1266216"/>
            <a:ext cx="11363498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Aprire VS Code, un notebook e uno script e farli girare nell'ambiente giusto (uv, kernel, estensioni)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Dire cosa è cosa in una riga di codice: libreria, funzione, classe, oggetto, metodo, attributo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Distinguere la libreria standard dalle librerie installate, e sapere dove vivono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Usare liste, dizionari, condizioni, cicli e funzioni; leggere un traceback dal basso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Pulire, aggregare, unire e disegnare dati con pandas e Plotly; controllare con Ruff e Data Wrangler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Chiedere a un agente la cosa giusta con il contesto giusto, leggere quel che torna e verificarlo</a:t>
            </a:r>
          </a:p>
        </p:txBody>
      </p:sp>
    </p:spTree>
    <p:extLst>
      <p:ext uri="{BB962C8B-B14F-4D97-AF65-F5344CB8AC3E}">
        <p14:creationId xmlns:p14="http://schemas.microsoft.com/office/powerpoint/2010/main" val="199275437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PROBLEMA: SUL MIO PC FUNZIONA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Lo script del collega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Usa pandas, numpy e requests: librerie che non arrivano insieme a Python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Sul suo PC gira, sul tuo no: lui ha pandas 1.5, tu la 3.0 o nessuna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Quale Python, quali librerie, quali versioni: nessuno lo ha scritto da nessuna parte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La risposta: un ambiente per progetto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Ogni progetto ha la sua cartella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con il suo Python e le sue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Le dipendenze stanno in un file,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pyproject.toml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le versioni esatte in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uv.lock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Chi apre il progetto ricostruisce lo stesso ambiente, oggi e tra un anno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GLI STRUMENTI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Quattro strumenti per lo stesso lavoro: Python, ambiente e librerie di un progetto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20240"/>
          <a:ext cx="11365992" cy="28803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00200"/>
                <a:gridCol w="2441448"/>
                <a:gridCol w="2441448"/>
                <a:gridCol w="2441448"/>
                <a:gridCol w="244144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pip + venv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conda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poetry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uv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Cosa fa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Installa librerie in un ambiente virtuale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Ambienti con Python e librerie, anche non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Progetto, dipendenze e 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Python, ambiente, dipendenze e lockfile in un solo binario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No, requirements.txt scritto a mano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Parziale (environment.yml)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(poetry.lock)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(uv.lock)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Gestisce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Velocità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Bassa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Molto alta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Maturità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 standard, da sempre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2012, diffuso nel mondo scientifico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2018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2024, adozione rapidissima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Quando ha senso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Script piccoli, nessuno strumento in più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Pacchetti non Python: C, CUDA, R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che già lo usano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nuovi, e questo corso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UV IN PRATICA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solo strumento per Python, ambiente, dipendenze e lockfile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65960"/>
          <a:ext cx="1133856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6160"/>
                <a:gridCol w="77724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python install 3.13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Scarica Python 3.13, senza toccare quello del sistema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init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Crea un progetto: pyproject.toml e .python-version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add pandas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Aggiunge pandas alle dipendenze, aggiorna uv.lock e il .venv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sync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Ricostruisce il .venv esatto descritto da uv.lock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run script.py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Esegue lo script nell'ambiente del progetto, senza attivarlo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uvx ruff check .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Lancia uno strumento (qui Ruff) senza installarlo nel progetto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Corpo"/>
          <p:cNvSpPr txBox="1"/>
          <p:nvPr/>
        </p:nvSpPr>
        <p:spPr>
          <a:xfrm>
            <a:off x="606829" y="4709160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Niente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pip install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 nel notebook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nel terminale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add nome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poi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Restart kernel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PERCHÉ È VELOCE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scelte tecniche, nessuna magia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Resolver scritto in Rust: trova le versioni compatibili in una frazione di secondo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Download paralleli: le librerie arrivano tutte insieme, non una alla volta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Cache globale: una libreria già scaricata non si scarica più, si collega (hard link)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cambia per noi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Creare il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corso richiede secondi, anche con pandas e Plotly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ricostruisce lo stesso ambiente su trenta PC, Windows e Mac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Se qualcosa si rompe: cancelli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rilanci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sei al punto di partenza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SETUP DEL CORSO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1. Installare uv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Windows: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winget install astral-sh.uv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   Mac: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brew install uv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2. Scaricare il repo del corso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Lo zip da GitHub, scompattato in una cartella tua, per esempio Documenti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3. Aprire la cartella in VS Code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File → Apri cartella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estensioni Python e Jupyter installate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4. Nel terminale di VS Code: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con Python 3.13 e tutte le librerie del corso, in pochi secondi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5. Scegliere il kernel e verificare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Select Kernel → Python Environments → .venv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Prima cella: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import sys; print(sys.executable)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deve contenere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790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T" dirty="0"/>
              <a:t>INTRODUZIONE</a:t>
            </a:r>
            <a:r>
              <a:rPr lang="it-IT" dirty="0"/>
              <a:t> AGLI OGGETTI IN PYTHON</a:t>
            </a:r>
            <a:endParaRPr lang="en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2BE47-33EF-AE3E-81AF-B8DE77F04C90}"/>
              </a:ext>
            </a:extLst>
          </p:cNvPr>
          <p:cNvSpPr txBox="1"/>
          <p:nvPr/>
        </p:nvSpPr>
        <p:spPr>
          <a:xfrm>
            <a:off x="515250" y="953774"/>
            <a:ext cx="111614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Tutto è un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oggetto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un numero, un testo, una lista, un DataFrame.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Ogni oggetto è fatto da una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, lo stampo: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 DataFrame,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"IT001E"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str.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Un oggetto ha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attributi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(dati, senza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letture.shape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) 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metodi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(azioni, con le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letture.head()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Le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librerie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sono cartelle di moduli con dentro classi e funzioni: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pd.read_csv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funzione di pandas,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plotly.express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un sottomodulo.</a:t>
            </a:r>
          </a:p>
          <a:p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Regola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a sinistra del punto c'è chi fa il lavoro.</a:t>
            </a:r>
          </a:p>
        </p:txBody>
      </p:sp>
      <p:pic>
        <p:nvPicPr>
          <p:cNvPr id="8" name="Picture 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FA6A9278-65FD-FF61-9052-C15BED8D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3794914"/>
            <a:ext cx="1298448" cy="12984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09C37B-7A43-15F2-595F-AE1856451FF0}"/>
              </a:ext>
            </a:extLst>
          </p:cNvPr>
          <p:cNvSpPr txBox="1"/>
          <p:nvPr/>
        </p:nvSpPr>
        <p:spPr>
          <a:xfrm>
            <a:off x="2025141" y="3311181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rgbClr val="000000"/>
                </a:solidFill>
                <a:latin typeface="-webkit-standard"/>
              </a:rPr>
              <a:t>studente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1CE07-9D63-6155-8D79-7BA96D7C761E}"/>
              </a:ext>
            </a:extLst>
          </p:cNvPr>
          <p:cNvSpPr/>
          <p:nvPr/>
        </p:nvSpPr>
        <p:spPr>
          <a:xfrm>
            <a:off x="2487168" y="3900070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Nome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7E92A-B695-2DA9-A58D-C3F938DF1C43}"/>
              </a:ext>
            </a:extLst>
          </p:cNvPr>
          <p:cNvSpPr/>
          <p:nvPr/>
        </p:nvSpPr>
        <p:spPr>
          <a:xfrm>
            <a:off x="2493400" y="4178808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Cognome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05742-42A5-A83C-37FD-4F11A7C22DFF}"/>
              </a:ext>
            </a:extLst>
          </p:cNvPr>
          <p:cNvSpPr/>
          <p:nvPr/>
        </p:nvSpPr>
        <p:spPr>
          <a:xfrm>
            <a:off x="2499513" y="4477406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Facoltà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686EFC-B093-9CF4-C7C7-894372E31822}"/>
              </a:ext>
            </a:extLst>
          </p:cNvPr>
          <p:cNvSpPr/>
          <p:nvPr/>
        </p:nvSpPr>
        <p:spPr>
          <a:xfrm>
            <a:off x="2487168" y="4776004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Voti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CB3115-F564-AB51-2471-1BF1909094FB}"/>
              </a:ext>
            </a:extLst>
          </p:cNvPr>
          <p:cNvSpPr/>
          <p:nvPr/>
        </p:nvSpPr>
        <p:spPr>
          <a:xfrm>
            <a:off x="1188720" y="3642574"/>
            <a:ext cx="2743200" cy="156336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DD87E95-6C33-B6D8-97D6-33658F88E2F3}"/>
              </a:ext>
            </a:extLst>
          </p:cNvPr>
          <p:cNvSpPr/>
          <p:nvPr/>
        </p:nvSpPr>
        <p:spPr>
          <a:xfrm>
            <a:off x="1188720" y="3365575"/>
            <a:ext cx="2743200" cy="184036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6" name="Picture 15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DAF0F53-B7CD-3E47-00B1-B72702663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2880360"/>
            <a:ext cx="1298448" cy="129844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FD26D12-1F5C-0B76-1766-8D2518E42D01}"/>
              </a:ext>
            </a:extLst>
          </p:cNvPr>
          <p:cNvSpPr/>
          <p:nvPr/>
        </p:nvSpPr>
        <p:spPr>
          <a:xfrm>
            <a:off x="7540752" y="2985516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7BE950-87C3-A18C-BAD2-463EF788DFCC}"/>
              </a:ext>
            </a:extLst>
          </p:cNvPr>
          <p:cNvSpPr/>
          <p:nvPr/>
        </p:nvSpPr>
        <p:spPr>
          <a:xfrm>
            <a:off x="7546984" y="3264254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Rossi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A383AE-2E13-CE1D-53D8-8FDC0DF1D424}"/>
              </a:ext>
            </a:extLst>
          </p:cNvPr>
          <p:cNvSpPr/>
          <p:nvPr/>
        </p:nvSpPr>
        <p:spPr>
          <a:xfrm>
            <a:off x="7553097" y="3562852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Medicina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EB3298-AF06-2CDD-FD7A-F4EFA5286778}"/>
              </a:ext>
            </a:extLst>
          </p:cNvPr>
          <p:cNvSpPr/>
          <p:nvPr/>
        </p:nvSpPr>
        <p:spPr>
          <a:xfrm>
            <a:off x="7540752" y="3861450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28, 25, 30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220112A-D2FA-1A5A-4135-EFCFB3C3FABC}"/>
              </a:ext>
            </a:extLst>
          </p:cNvPr>
          <p:cNvSpPr/>
          <p:nvPr/>
        </p:nvSpPr>
        <p:spPr>
          <a:xfrm>
            <a:off x="6242304" y="2775262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0" name="Picture 39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7A917EE9-2403-05B3-A5A9-1E574E785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4617133"/>
            <a:ext cx="1298448" cy="129844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950012DC-5B91-40C9-2F95-AFF62A82D36B}"/>
              </a:ext>
            </a:extLst>
          </p:cNvPr>
          <p:cNvSpPr/>
          <p:nvPr/>
        </p:nvSpPr>
        <p:spPr>
          <a:xfrm>
            <a:off x="7540752" y="4722289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Luigi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2C80ECE-BA91-8D22-B682-D6DDA680A6B2}"/>
              </a:ext>
            </a:extLst>
          </p:cNvPr>
          <p:cNvSpPr/>
          <p:nvPr/>
        </p:nvSpPr>
        <p:spPr>
          <a:xfrm>
            <a:off x="7546984" y="5001027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Verdi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9AB4D6-53D9-DA42-9843-5A58FAEE51DE}"/>
              </a:ext>
            </a:extLst>
          </p:cNvPr>
          <p:cNvSpPr/>
          <p:nvPr/>
        </p:nvSpPr>
        <p:spPr>
          <a:xfrm>
            <a:off x="7553097" y="5299625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Fisica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04A7C7-DEF4-7C90-BF7C-3995786C62E9}"/>
              </a:ext>
            </a:extLst>
          </p:cNvPr>
          <p:cNvSpPr/>
          <p:nvPr/>
        </p:nvSpPr>
        <p:spPr>
          <a:xfrm>
            <a:off x="7540752" y="5598223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25, 30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9E2E8D4-3007-CC2F-A4BE-9BCC70E27CD6}"/>
              </a:ext>
            </a:extLst>
          </p:cNvPr>
          <p:cNvSpPr/>
          <p:nvPr/>
        </p:nvSpPr>
        <p:spPr>
          <a:xfrm>
            <a:off x="6242304" y="4512035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32834B21-876F-68CA-9334-E655ED7A7CDE}"/>
              </a:ext>
            </a:extLst>
          </p:cNvPr>
          <p:cNvSpPr/>
          <p:nvPr/>
        </p:nvSpPr>
        <p:spPr>
          <a:xfrm>
            <a:off x="4782312" y="4178808"/>
            <a:ext cx="768096" cy="42965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69206-C769-F75E-9893-F72C4E433191}"/>
              </a:ext>
            </a:extLst>
          </p:cNvPr>
          <p:cNvSpPr txBox="1"/>
          <p:nvPr/>
        </p:nvSpPr>
        <p:spPr>
          <a:xfrm>
            <a:off x="606829" y="269569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Classe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60D228-BC7F-ACF4-0070-4C394764FF87}"/>
              </a:ext>
            </a:extLst>
          </p:cNvPr>
          <p:cNvSpPr txBox="1"/>
          <p:nvPr/>
        </p:nvSpPr>
        <p:spPr>
          <a:xfrm>
            <a:off x="5178544" y="2704299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Istanze</a:t>
            </a:r>
          </a:p>
        </p:txBody>
      </p:sp>
    </p:spTree>
    <p:extLst>
      <p:ext uri="{BB962C8B-B14F-4D97-AF65-F5344CB8AC3E}">
        <p14:creationId xmlns:p14="http://schemas.microsoft.com/office/powerpoint/2010/main" val="9259111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AGENTI PER IL CODING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sono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GitHub Copilot in VS Code, Claude Code, Codex: la stessa cosa in tre vestiti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modello di linguaggio che legge il tuo codice e ne scrive altro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Per giudicare il codice che propongono serve il vocabolario dei primi tre blocchi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modi di usarli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Completamento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scrivi l'inizio di una riga, propone il resto,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Tab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per accettare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Chat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una domanda sul codice aperto, una risposta con un esempio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Modalità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 compito, e lui scrive i file, lancia i comandi, legge gli errori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Leggere quello che scrive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import, costanti, def, main; decoratori e type hint si riconoscono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LE PAROLE DA SAPERE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Token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pezzo di parola, circa quattro caratteri; il modello legge e scrive token, non frasi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Finestra di contesto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tiene in memoria in una volta; ciò che non ci sta, non lo sa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Cache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la parte ripetuta del contesto costa meno; non lo rende più bravo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Modello piccolo vs grande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piccolo e veloce per completare una riga, grande per ragionare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Plan vs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in plan descrive cosa farebbe e tu leggi; in agent lo fa, scrive file e lancia comandi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Prompt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dire bene cosa vuoi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Context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dargli il materiale giusto: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dato, nomi delle colonne, traceback intero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TRE REGOLE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1. Verifica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Esegui il codice, guarda </a:t>
            </a:r>
            <a:r>
              <a:rPr sz="20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, controlla una somma a mano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2. Chiedi spiegazioni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Finché non sapresti riscriverlo da solo, riga per riga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3. Piccoli passi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Una cella alla volta; mai “fammi tutta l'analisi”</a:t>
            </a:r>
          </a:p>
          <a:p>
            <a:pPr algn="l"/>
            <a:endParaRPr sz="1400" lang="it-IT"/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Codice che non capisci non è tuo, ma in produzione il problema sarà tuo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CAPSTONE: IL CARICO DEL NORD E LA TEMPERATURA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La domanda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pesa la temperatura sul carico elettrico della zona Nord</a:t>
            </a:r>
          </a:p>
          <a:p>
            <a:pPr algn="l"/>
            <a:endParaRPr sz="1200" lang="it-IT"/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1. Caricamento e unione dei dati Terna 2024 e 2025: zona Nord, quartorari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2. Colonna temporale e prima visualizzazione; via le colonne che non servono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3. Ora legale: i duplicati di ottobre e i buchi di marzo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4. Serie giornaliera e profili medi per ora e per giorno della settimana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5. Temperatura oraria da Open-Meteo: API con requests, file di riserva se manca la rete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6. Carico e temperatura: scatter con Plotly e cinque frasi di conclusione</a:t>
            </a:r>
          </a:p>
          <a:p>
            <a:pPr algn="l"/>
            <a:endParaRPr sz="1200" lang="it-IT"/>
          </a:p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A ogni passo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questo l'ho già fatto, in piccolo, durante il corso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7196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zato 1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433660c-feb5-4128-8540-15a171772da6" xsi:nil="true"/>
    <lcf76f155ced4ddcb4097134ff3c332f xmlns="e4231d99-7c26-474c-b5f4-3357e8fa85e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E5CD625E675A42B6040BD7E58EFFBA" ma:contentTypeVersion="12" ma:contentTypeDescription="Creare un nuovo documento." ma:contentTypeScope="" ma:versionID="fb807d1fa8a06276b1e97d58e4ac795d">
  <xsd:schema xmlns:xsd="http://www.w3.org/2001/XMLSchema" xmlns:xs="http://www.w3.org/2001/XMLSchema" xmlns:p="http://schemas.microsoft.com/office/2006/metadata/properties" xmlns:ns2="e4231d99-7c26-474c-b5f4-3357e8fa85e0" xmlns:ns3="2433660c-feb5-4128-8540-15a171772da6" targetNamespace="http://schemas.microsoft.com/office/2006/metadata/properties" ma:root="true" ma:fieldsID="954fedd8067609b9d82db79984110376" ns2:_="" ns3:_="">
    <xsd:import namespace="e4231d99-7c26-474c-b5f4-3357e8fa85e0"/>
    <xsd:import namespace="2433660c-feb5-4128-8540-15a171772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231d99-7c26-474c-b5f4-3357e8fa85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e92e9c1d-0a16-416f-8786-90fcd36246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33660c-feb5-4128-8540-15a171772da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391645e-5bfa-426b-8620-88ebf7d65de1}" ma:internalName="TaxCatchAll" ma:showField="CatchAllData" ma:web="2433660c-feb5-4128-8540-15a171772d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7929D8-7F94-4DD8-89C5-765AD6E14F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50C1AF-50D7-4AF8-99E6-A8110CED6891}">
  <ds:schemaRefs>
    <ds:schemaRef ds:uri="http://schemas.microsoft.com/office/2006/metadata/properties"/>
    <ds:schemaRef ds:uri="http://schemas.microsoft.com/office/infopath/2007/PartnerControls"/>
    <ds:schemaRef ds:uri="2433660c-feb5-4128-8540-15a171772da6"/>
    <ds:schemaRef ds:uri="e4231d99-7c26-474c-b5f4-3357e8fa85e0"/>
  </ds:schemaRefs>
</ds:datastoreItem>
</file>

<file path=customXml/itemProps3.xml><?xml version="1.0" encoding="utf-8"?>
<ds:datastoreItem xmlns:ds="http://schemas.openxmlformats.org/officeDocument/2006/customXml" ds:itemID="{39638608-AC74-4D89-871F-5A43E986A9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4231d99-7c26-474c-b5f4-3357e8fa85e0"/>
    <ds:schemaRef ds:uri="2433660c-feb5-4128-8540-15a171772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8931</TotalTime>
  <Words>718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</vt:lpstr>
      <vt:lpstr>Calibri</vt:lpstr>
      <vt:lpstr>Calibri Light</vt:lpstr>
      <vt:lpstr>Helvetica</vt:lpstr>
      <vt:lpstr>Lato</vt:lpstr>
      <vt:lpstr>Lato Black</vt:lpstr>
      <vt:lpstr>-webkit-standard</vt:lpstr>
      <vt:lpstr>Wingdings</vt:lpstr>
      <vt:lpstr>Tema di Office</vt:lpstr>
      <vt:lpstr>Personalizza struttura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Camilla Ferraro</dc:creator>
  <cp:lastModifiedBy>Corvaglia Andrea</cp:lastModifiedBy>
  <cp:revision>35</cp:revision>
  <dcterms:created xsi:type="dcterms:W3CDTF">2022-12-16T09:28:59Z</dcterms:created>
  <dcterms:modified xsi:type="dcterms:W3CDTF">2026-01-19T09:14:31Z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0x01010041E5CD625E675A42B6040BD7E58EFFBA</vt:lpwstr>
  </property>
</Properties>
</file>