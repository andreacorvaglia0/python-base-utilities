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handoutMasterIdLst>
    <p:handoutMasterId r:id="rId19"/>
  </p:handoutMasterIdLst>
  <p:sldIdLst>
    <p:sldId id="257" r:id="rId6"/>
    <p:sldId id="267" r:id="rId7"/>
    <p:sldId id="260" r:id="rId8"/>
    <p:sldId id="262" r:id="rId9"/>
    <p:sldId id="263" r:id="rId10"/>
    <p:sldId id="273" r:id="rId11"/>
    <p:sldId id="325" r:id="rId26"/>
    <p:sldId id="326" r:id="rId27"/>
    <p:sldId id="327" r:id="rId28"/>
    <p:sldId id="328" r:id="rId29"/>
    <p:sldId id="329" r:id="rId30"/>
    <p:sldId id="270" r:id="rId12"/>
    <p:sldId id="330" r:id="rId31"/>
    <p:sldId id="331" r:id="rId32"/>
    <p:sldId id="332" r:id="rId33"/>
    <p:sldId id="333" r:id="rId34"/>
    <p:sldId id="259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8595B"/>
    <a:srgbClr val="891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C11E08-8C5A-4CB4-89CC-3E9AE0D7ADD2}" v="8" dt="2022-12-16T10:54:40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82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85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436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12.xml"/><Relationship Id="rId18" Type="http://schemas.openxmlformats.org/officeDocument/2006/relationships/slide" Target="slides/slide17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la Ferraro" userId="49ab112f-b347-4814-9bb1-f82a354b7d0b" providerId="ADAL" clId="{EBC11E08-8C5A-4CB4-89CC-3E9AE0D7ADD2}"/>
    <pc:docChg chg="undo custSel modSld modHandout">
      <pc:chgData name="Camilla Ferraro" userId="49ab112f-b347-4814-9bb1-f82a354b7d0b" providerId="ADAL" clId="{EBC11E08-8C5A-4CB4-89CC-3E9AE0D7ADD2}" dt="2022-12-16T10:54:42.245" v="7"/>
      <pc:docMkLst>
        <pc:docMk/>
      </pc:docMkLst>
      <pc:sldChg chg="addSp delSp modSp mod">
        <pc:chgData name="Camilla Ferraro" userId="49ab112f-b347-4814-9bb1-f82a354b7d0b" providerId="ADAL" clId="{EBC11E08-8C5A-4CB4-89CC-3E9AE0D7ADD2}" dt="2022-12-16T10:54:42.245" v="7"/>
        <pc:sldMkLst>
          <pc:docMk/>
          <pc:sldMk cId="2706215062" sldId="258"/>
        </pc:sldMkLst>
        <pc:spChg chg="add del mod">
          <ac:chgData name="Camilla Ferraro" userId="49ab112f-b347-4814-9bb1-f82a354b7d0b" providerId="ADAL" clId="{EBC11E08-8C5A-4CB4-89CC-3E9AE0D7ADD2}" dt="2022-12-16T10:53:46.150" v="4" actId="478"/>
          <ac:spMkLst>
            <pc:docMk/>
            <pc:sldMk cId="2706215062" sldId="258"/>
            <ac:spMk id="2" creationId="{0D44854F-2D30-FA80-801A-BA45E86EE13F}"/>
          </ac:spMkLst>
        </pc:spChg>
        <pc:spChg chg="add del mod">
          <ac:chgData name="Camilla Ferraro" userId="49ab112f-b347-4814-9bb1-f82a354b7d0b" providerId="ADAL" clId="{EBC11E08-8C5A-4CB4-89CC-3E9AE0D7ADD2}" dt="2022-12-16T10:54:42.245" v="7"/>
          <ac:spMkLst>
            <pc:docMk/>
            <pc:sldMk cId="2706215062" sldId="258"/>
            <ac:spMk id="3" creationId="{7A63DEEA-CAD2-2FBB-8257-7F5A24B5E1CD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E20D6645-5278-6CCA-6690-3F9DC37A1A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F745A6D-A636-1206-EF24-EF19507B23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9FFCA-9520-4AE8-9003-3CDBD32AD1F7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1E56C97-25AF-7D09-0034-2BD9AC15E0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E86A227-0930-4D9F-CB94-28D812FF86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F87A0-7828-4269-8341-9454712A2AC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514802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 descr="Immagine che contiene testo&#10;&#10;Descrizione generata automaticamente">
            <a:extLst>
              <a:ext uri="{FF2B5EF4-FFF2-40B4-BE49-F238E27FC236}">
                <a16:creationId xmlns:a16="http://schemas.microsoft.com/office/drawing/2014/main" id="{578AA91A-73FD-EB7E-72E2-50689112A9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71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7CACEA95-C9ED-FF5A-FD6D-F622E228A8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5" r="539" b="13613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763254F8-7CB6-731E-7C35-AE742138A1FF}"/>
              </a:ext>
            </a:extLst>
          </p:cNvPr>
          <p:cNvSpPr/>
          <p:nvPr userDrawn="1"/>
        </p:nvSpPr>
        <p:spPr>
          <a:xfrm>
            <a:off x="1009651" y="1643062"/>
            <a:ext cx="6772274" cy="387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F273085-2B7A-8BE3-4BA0-FD5B42835D9C}"/>
              </a:ext>
            </a:extLst>
          </p:cNvPr>
          <p:cNvSpPr/>
          <p:nvPr userDrawn="1"/>
        </p:nvSpPr>
        <p:spPr>
          <a:xfrm>
            <a:off x="1181101" y="1490662"/>
            <a:ext cx="6772274" cy="3876675"/>
          </a:xfrm>
          <a:prstGeom prst="rect">
            <a:avLst/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609EBEF7-0E8A-5937-A3C1-4B8DFD3E39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-542925"/>
            <a:ext cx="2734769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4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072EB754-DA8F-066B-7509-4FB0063856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5" r="539" b="13613"/>
          <a:stretch/>
        </p:blipFill>
        <p:spPr>
          <a:xfrm flipH="1">
            <a:off x="-1" y="-1"/>
            <a:ext cx="12192000" cy="685800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57F5EFD-4F86-A020-66EB-FB05367E0E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579" y="-94890"/>
            <a:ext cx="4470117" cy="4468329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C606087-189D-BA23-9783-4CFDADE290CE}"/>
              </a:ext>
            </a:extLst>
          </p:cNvPr>
          <p:cNvSpPr txBox="1"/>
          <p:nvPr userDrawn="1"/>
        </p:nvSpPr>
        <p:spPr>
          <a:xfrm>
            <a:off x="5033513" y="3264837"/>
            <a:ext cx="2124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Grazie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3B2DC7D-FFE9-582B-3C4A-382FBEB95FC2}"/>
              </a:ext>
            </a:extLst>
          </p:cNvPr>
          <p:cNvSpPr txBox="1"/>
          <p:nvPr userDrawn="1"/>
        </p:nvSpPr>
        <p:spPr>
          <a:xfrm>
            <a:off x="100939" y="6338811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www.ikn.it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46457F3-6F7E-39EE-7B4F-CDEE6CC8F635}"/>
              </a:ext>
            </a:extLst>
          </p:cNvPr>
          <p:cNvSpPr txBox="1"/>
          <p:nvPr userDrawn="1"/>
        </p:nvSpPr>
        <p:spPr>
          <a:xfrm>
            <a:off x="10833986" y="6290564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@iKN </a:t>
            </a:r>
            <a:r>
              <a:rPr lang="it-IT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Italy</a:t>
            </a:r>
            <a:endParaRPr lang="it-IT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3D300300-1264-307A-EDAC-6394B4BCEA65}"/>
              </a:ext>
            </a:extLst>
          </p:cNvPr>
          <p:cNvSpPr/>
          <p:nvPr userDrawn="1"/>
        </p:nvSpPr>
        <p:spPr>
          <a:xfrm>
            <a:off x="10319751" y="6242316"/>
            <a:ext cx="465827" cy="465827"/>
          </a:xfrm>
          <a:prstGeom prst="roundRect">
            <a:avLst/>
          </a:prstGeom>
          <a:solidFill>
            <a:srgbClr val="000000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 descr="Immagine che contiene testo, silhouette, grafica vettoriale, clipart&#10;&#10;Descrizione generata automaticamente">
            <a:extLst>
              <a:ext uri="{FF2B5EF4-FFF2-40B4-BE49-F238E27FC236}">
                <a16:creationId xmlns:a16="http://schemas.microsoft.com/office/drawing/2014/main" id="{E091475D-E198-B72B-6E8C-DB38AAC256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105" y="6279628"/>
            <a:ext cx="355121" cy="35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02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DEDEA0-EC27-68C4-E0DF-253CDFCF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ECFA6F-2542-468F-CFC9-905E307BA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7E86FF-A51F-0B1B-A2C5-EB248966A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BC7B65C-D71A-D862-EB3A-45C07F86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CB994AF-DB97-61E4-2CF7-59EFD5A32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E62BDF8-B2CE-3D7F-A034-65D788A5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0887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1922A-B41B-02A5-8FAA-1500E77C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A4AAEF8-2E0F-43BD-7424-8CFD2751C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416FB50-2887-B06A-D8B1-FE271CA71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A8AE9E0-380A-46BE-FB0A-B57F7E69C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5C628A8-A886-B280-50B3-3CEA439E4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1EEF482-501D-4623-E9F0-7F421DBE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7655562-227D-164B-89EC-6947891F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8485B4D-ACDE-A094-E919-5A285F3A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0750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0F34C3-CA2D-4ABE-B69B-A256A8DE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ECD1762-BE79-81B6-9E19-36267C7ED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5ADF9BD-8F56-8DBD-6999-19EFC09CE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1D91912-F444-691F-6BD2-D1EBFA51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57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EE78A7B-F61E-8AE9-36A1-8441136C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BD61FF2-D694-7341-A38D-F1DFA5AA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6DAB866-68FC-8209-C510-4EBC85EB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7535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76AB11-A65A-8E3C-095B-50E9EC63D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2BB72B-BCCF-4626-8070-F658EEE55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3199659-6BF8-D2D5-F140-6B5082531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E73A2DE-C435-C5F5-9D6D-64B81524C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BB3278-A89A-9228-E659-099E60653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DD1D92-1C7D-6C09-84EF-974C09F1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7362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C2805F-14FE-67E0-5642-C54D09D0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D653A34-1E9F-F18B-2B34-8A831CE3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D8601A0-C3AA-3071-5CC2-E9812FC65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311CC93-8B0F-6E5E-13B9-41EC1D16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1CEEEE-657C-FA25-7D72-BF9D9C3B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DA02E15-BE49-BEFC-E70B-F6108C0B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976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C0B3E8-2F74-B124-36E2-5AFEEC83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CD03CF7-E8EC-A6D9-E7F2-0D87B4B7C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03DD205-D8AA-3939-8E0E-F85933315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62FD6A0-935B-CDFF-26B0-F1B04B89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9602DB-69F4-97F0-D07E-EA370A442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6196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9300F2B-70E7-9150-FD03-5A4615AFD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78EB15F-ACBC-61D5-338E-E8695846D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694C23-11E8-894A-76B1-6DB61F5A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6D2EF5-4859-BBA1-4B0A-2A509C4EA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19638D-7810-F1EE-87DD-A8529C7A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5723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887172-F901-2B03-7658-8CD504697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E62786E-4962-473A-7F20-810FB32B2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351459-77DD-967B-622B-61222812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F07B1A-47B5-F77E-BAD1-7EAE1C8FF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FD1F39-A1A0-45CE-6168-420459E3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1349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CD6F3E-942F-3DB4-0C66-7BE0BE6C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CC0FDF-96FC-A7D1-5442-9D8BBEEB1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CF2FAAC-CD56-4D38-1B97-1B52FAE0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E89904-4FCF-C1A0-BD17-A2CB314F6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DF2EC6-717D-11B0-B56A-D44B3B9F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9900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CC5AEC-DD7B-DED3-F44D-49F6ACAE7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6498FA-B45E-6F70-19A5-D8BFBA019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4EB9E9-FB2D-C8C1-6D4D-213638AD5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63C8DA-C917-B909-B85C-19859D38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E2DCF4-6492-E9C4-EACA-22D454D4C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2668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27AAAA-3375-3386-F0A7-AFBB7658B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6C8E28-13CB-D761-0093-6921570F4D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235D987-4945-2B8E-4C89-6C0D13393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5A3B09B-AE27-86DB-3E0E-0B27B3881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324CE0D-3631-C445-0B9F-F1D5BA489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2D53B01-51F1-A097-8619-6DC99A63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2954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3696A-8A5D-EA2D-C247-D8D3DF396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5348E3-2EEE-74AB-9497-A8AC04E19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97068D7-427A-E453-2097-7226DACAF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A630F2C-E9A7-3352-E071-D0BDB8285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B79293D-D7E4-3706-8CD6-A4E9E1892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346C68E-1316-8F7C-981C-47873991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F1F11E6-59F3-61EA-5FEE-6BCA915E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51713AD-ED88-C23E-FC45-FBEA4239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4717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635385-F2BC-41E6-3D56-D4B2373C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68C088C-68A7-838D-DFAF-DF5A47CD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63E6244-775D-0AC0-B323-F7C15FB6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D3BA853-1EE9-B5FA-E3A6-651D39E0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8903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0012071-BC36-E9E8-F215-7ACE26DEA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21853A3-68BB-34BA-4E1F-2CC48338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08705B8-E8DC-82F2-CC57-6883D542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23216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B7344F-9D5E-2704-BFDB-B60716BEE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00142E-4A2D-2EB0-1121-22F1E6AE3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0226A41-9563-EA1E-BB04-E217D5208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E4B283F-B340-AB16-F9F5-4BF98AD46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020A046-EE2E-2037-2246-D123D743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7EF1CAC-FC82-592D-492B-4494DD0A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1352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084EB5-5898-ECDA-2862-06BDFB294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D4A729C-F7FE-10E5-8587-54F27408E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E6DFFBC-1E3C-4978-BE7B-9ECC51D3E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9806538-72E8-0804-A967-A59F25843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3FE2C93-1517-3A5E-B042-1DE7AB5DE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F86E4D-0DC1-13D4-0B4A-DD7C0DE6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6325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A7C874-1ADF-8C08-37F9-4A5F593A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C674C34-D5F1-9A07-F0C1-71FE56B3E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08EB8C-0871-018A-BB88-338A37FAC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C6549F-6B59-B047-735B-99E7FF44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408E06-CB22-2110-32AF-EDCF6C28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19133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F372DEC-AD10-E044-EC1C-5FCFFDE8A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CE3BBD9-6C53-C013-C801-EE0DF0487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76223E-DFC6-AE2D-C40E-C7873FBBB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1D9353-EB8C-5D26-7AB2-196D57510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BA5D8D-CB2D-E4AB-81E3-21546F0A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58733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4A5F750-5EFA-7BBD-BF4F-5BA348FE2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4BCC3A5-93CC-7BF6-A512-C524808B0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E849335-A1A1-29AC-21F0-8AE4B5D4E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A94F30-A720-6709-21FD-5BEA44BC2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2E2E1F-4D7A-14E4-FE78-BE0943AD1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400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DBADC55-4440-E779-FE63-A84C7BA7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6B7A42-368B-FD88-63AC-32EDEE85B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7E7C50-966F-876A-886C-89E8FD977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B74B53-3869-C23D-C6E9-DC4E10D27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527140-8739-4F9C-A948-D24F349FF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366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890DC9C-CB45-9424-94F5-61BF2B3A9A9A}"/>
              </a:ext>
            </a:extLst>
          </p:cNvPr>
          <p:cNvSpPr txBox="1"/>
          <p:nvPr/>
        </p:nvSpPr>
        <p:spPr>
          <a:xfrm>
            <a:off x="1140821" y="1933303"/>
            <a:ext cx="6252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PYTHON BASE: STRUMENTO DI DATA SCIENCE PER IL MERCATO ENERGETICO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686DC91-CD5B-5810-8341-13ABB89BF745}"/>
              </a:ext>
            </a:extLst>
          </p:cNvPr>
          <p:cNvSpPr txBox="1"/>
          <p:nvPr/>
        </p:nvSpPr>
        <p:spPr>
          <a:xfrm>
            <a:off x="1140820" y="2865119"/>
            <a:ext cx="6252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20-21 e 27-28 ottobre 2026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46A3590-C6EF-D1F7-EF3A-B2A02C276022}"/>
              </a:ext>
            </a:extLst>
          </p:cNvPr>
          <p:cNvSpPr txBox="1"/>
          <p:nvPr/>
        </p:nvSpPr>
        <p:spPr>
          <a:xfrm>
            <a:off x="1140821" y="3992881"/>
            <a:ext cx="6687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Docente: </a:t>
            </a:r>
          </a:p>
          <a:p>
            <a:r>
              <a:rPr lang="it-IT" sz="24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Andrea Corvaglia</a:t>
            </a:r>
            <a:endParaRPr lang="it-IT" sz="2400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263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44854F-2D30-FA80-801A-BA45E86EE13F}"/>
              </a:ext>
            </a:extLst>
          </p:cNvPr>
          <p:cNvSpPr txBox="1"/>
          <p:nvPr/>
        </p:nvSpPr>
        <p:spPr>
          <a:xfrm>
            <a:off x="2682240" y="1201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5A6E3-2DAE-D404-1AB9-B6309BF05F6A}"/>
              </a:ext>
            </a:extLst>
          </p:cNvPr>
          <p:cNvSpPr txBox="1"/>
          <p:nvPr/>
        </p:nvSpPr>
        <p:spPr>
          <a:xfrm>
            <a:off x="606829" y="426315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2800" b="1"/>
            </a:lvl1pPr>
          </a:lstStyle>
          <a:p>
            <a:pPr algn="l"/>
            <a:r>
              <a:rPr lang="en-IT">
                <a:latin typeface="Calibri" panose="020F0502020204030204" pitchFamily="34" charset="0"/>
                <a:cs typeface="Calibri" panose="020F0502020204030204" pitchFamily="34" charset="0"/>
              </a:rPr>
              <a:t>PROGRAMMA DEL CORSO (Moduli 1 e 2)</a:t>
            </a:r>
            <a:endParaRPr lang="en-IT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asellaDiTesto 1">
            <a:extLst>
              <a:ext uri="{FF2B5EF4-FFF2-40B4-BE49-F238E27FC236}">
                <a16:creationId xmlns:a16="http://schemas.microsoft.com/office/drawing/2014/main" id="{35D6CF70-56AF-A22D-3A00-8DCF34467A4A}"/>
              </a:ext>
            </a:extLst>
          </p:cNvPr>
          <p:cNvSpPr txBox="1"/>
          <p:nvPr/>
        </p:nvSpPr>
        <p:spPr>
          <a:xfrm>
            <a:off x="2682240" y="24702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94ABEB5-4007-7951-0296-A03837E8A214}"/>
              </a:ext>
            </a:extLst>
          </p:cNvPr>
          <p:cNvSpPr txBox="1"/>
          <p:nvPr/>
        </p:nvSpPr>
        <p:spPr>
          <a:xfrm>
            <a:off x="606829" y="1419107"/>
            <a:ext cx="1136349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Modulo 1 · 20 ottobre · Setup, Python e sintassi di base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Jupyter e i notebook; Python: variabili, numeri, stringhe, import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Tipi di dato: liste, tuple, dizionari, set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Codice leggibile: commenti, docstring, PEP 8 (Avanzata: ambiente uv, script e Ruff)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Esercitazione 1</a:t>
            </a:r>
          </a:p>
          <a:p>
            <a:pPr algn="l"/>
            <a:endParaRPr sz="1200" lang="it-IT"/>
          </a:p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Modulo 2 · 21 ottobre · Controllo del flusso, funzioni e primi dati in pandas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Funzioni e controllo del flusso (Avanzata: lambda, list comprehension)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Oggetti ed errori: attributi, metodi, leggere un traceback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pandas: Series e DataFrame; dati da CSV, Excel, database SQL (Avanzata: API)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Esercitazione 2</a:t>
            </a:r>
          </a:p>
          <a:p>
            <a:pPr algn="l"/>
            <a:endParaRPr sz="1200" lang="it-IT"/>
          </a:p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Ogni giornata: aula Base nelle prime quattro ore, aula Avanzata nelle quattro successive</a:t>
            </a:r>
          </a:p>
        </p:txBody>
      </p:sp>
    </p:spTree>
    <p:extLst>
      <p:ext uri="{BB962C8B-B14F-4D97-AF65-F5344CB8AC3E}">
        <p14:creationId xmlns:p14="http://schemas.microsoft.com/office/powerpoint/2010/main" val="4530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44854F-2D30-FA80-801A-BA45E86EE13F}"/>
              </a:ext>
            </a:extLst>
          </p:cNvPr>
          <p:cNvSpPr txBox="1"/>
          <p:nvPr/>
        </p:nvSpPr>
        <p:spPr>
          <a:xfrm>
            <a:off x="2682240" y="10526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5A6E3-2DAE-D404-1AB9-B6309BF05F6A}"/>
              </a:ext>
            </a:extLst>
          </p:cNvPr>
          <p:cNvSpPr txBox="1"/>
          <p:nvPr/>
        </p:nvSpPr>
        <p:spPr>
          <a:xfrm>
            <a:off x="606829" y="426315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IT"/>
              <a:t>PROGRAMMA DEL CORSO (Moduli 3 e 4)</a:t>
            </a:r>
            <a:endParaRPr lang="en-IT" dirty="0"/>
          </a:p>
        </p:txBody>
      </p:sp>
      <p:sp>
        <p:nvSpPr>
          <p:cNvPr id="6" name="CasellaDiTesto 1">
            <a:extLst>
              <a:ext uri="{FF2B5EF4-FFF2-40B4-BE49-F238E27FC236}">
                <a16:creationId xmlns:a16="http://schemas.microsoft.com/office/drawing/2014/main" id="{51652B5A-8054-7C9C-4AAB-FD2822BDA600}"/>
              </a:ext>
            </a:extLst>
          </p:cNvPr>
          <p:cNvSpPr txBox="1"/>
          <p:nvPr/>
        </p:nvSpPr>
        <p:spPr>
          <a:xfrm>
            <a:off x="2682240" y="3279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80BE9D2-A54B-6834-7CBB-690FDDAC4B94}"/>
              </a:ext>
            </a:extLst>
          </p:cNvPr>
          <p:cNvSpPr txBox="1"/>
          <p:nvPr/>
        </p:nvSpPr>
        <p:spPr>
          <a:xfrm>
            <a:off x="606829" y="1422030"/>
            <a:ext cx="112803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Modulo 3 · 27 ottobre · Analisi dei dati con pandas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Operazioni sui DataFrame: filtri, valori mancanti, groupby, merge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Dati temporali: conversione, indice, resample, ora legale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Data Wrangler: esplorare e pulire i dati, leggendo il codice pandas che genera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Esercitazione 3</a:t>
            </a:r>
          </a:p>
          <a:p>
            <a:pPr algn="l"/>
            <a:endParaRPr sz="1200" lang="it-IT"/>
          </a:p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Modulo 4 · 28 ottobre · Agenti per il coding e capstone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Plotly in breve: un grafico a linee, il confronto tra serie, l'export in HTML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Copilot in VS Code: token, contesto, modelli, plan e agent; leggere il codice scritto da un agente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Capstone: il carico del Nord e la temperatura, dai file Terna al grafico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374151"/>
                </a:solidFill>
                <a:latin typeface="Calibri"/>
                <a:cs typeface="Calibri"/>
              </a:rPr>
              <a:t>Step finale del capstone: richieste libere a Copilot sui dati, da leggere e verificare; soluzioni nella cartella Soluzioni/</a:t>
            </a:r>
          </a:p>
        </p:txBody>
      </p:sp>
    </p:spTree>
    <p:extLst>
      <p:ext uri="{BB962C8B-B14F-4D97-AF65-F5344CB8AC3E}">
        <p14:creationId xmlns:p14="http://schemas.microsoft.com/office/powerpoint/2010/main" val="2403033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44854F-2D30-FA80-801A-BA45E86EE13F}"/>
              </a:ext>
            </a:extLst>
          </p:cNvPr>
          <p:cNvSpPr txBox="1"/>
          <p:nvPr/>
        </p:nvSpPr>
        <p:spPr>
          <a:xfrm>
            <a:off x="2682240" y="1201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5A6E3-2DAE-D404-1AB9-B6309BF05F6A}"/>
              </a:ext>
            </a:extLst>
          </p:cNvPr>
          <p:cNvSpPr txBox="1"/>
          <p:nvPr/>
        </p:nvSpPr>
        <p:spPr>
          <a:xfrm>
            <a:off x="606829" y="426315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it-IT" dirty="0"/>
              <a:t>CORSO INTERATTIVO E PRATICO</a:t>
            </a:r>
            <a:endParaRPr lang="en-IT" dirty="0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C3D82EE8-F483-98A2-CB76-A9912C51200D}"/>
              </a:ext>
            </a:extLst>
          </p:cNvPr>
          <p:cNvSpPr txBox="1"/>
          <p:nvPr/>
        </p:nvSpPr>
        <p:spPr>
          <a:xfrm>
            <a:off x="548641" y="1201783"/>
            <a:ext cx="114578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Calibri" panose="020F0502020204030204" pitchFamily="34" charset="0"/>
                <a:cs typeface="Calibri" panose="020F0502020204030204" pitchFamily="34" charset="0"/>
              </a:rPr>
              <a:t>Obiettivo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: leggere, giudicare e guidare il codice, anche quando lo scrive un agente.</a:t>
            </a:r>
          </a:p>
          <a:p>
            <a:pPr marL="342900" indent="0">
              <a:buNone/>
            </a:pPr>
            <a:r>
              <a:rPr lang="it-IT" sz="2000" dirty="0" b="0">
                <a:latin typeface="Calibri" panose="020F0502020204030204" pitchFamily="34" charset="0"/>
                <a:cs typeface="Calibri" panose="020F0502020204030204" pitchFamily="34" charset="0"/>
              </a:rPr>
              <a:t>Si scrive codice a mano, in piccolo, per imparare a leggerlo.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Calibri" panose="020F0502020204030204" pitchFamily="34" charset="0"/>
                <a:cs typeface="Calibri" panose="020F0502020204030204" pitchFamily="34" charset="0"/>
              </a:rPr>
              <a:t>Ambiente di sviluppo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: VS Code e uv, un ambiente uguale per tutti, pronto con un comando.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Calibri" panose="020F0502020204030204" pitchFamily="34" charset="0"/>
                <a:cs typeface="Calibri" panose="020F0502020204030204" pitchFamily="34" charset="0"/>
              </a:rPr>
              <a:t>Materiale didattico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: Poche slide introduttive, notebook da modificare e testare, tre schede di una pagina da tenere accanto (cartella Schede/).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Calibri" panose="020F0502020204030204" pitchFamily="34" charset="0"/>
                <a:cs typeface="Calibri" panose="020F0502020204030204" pitchFamily="34" charset="0"/>
              </a:rPr>
              <a:t>Apprendimento attivo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: Codice pratico su ogni argomento, con esercizi integrati nei notebook.</a:t>
            </a:r>
          </a:p>
          <a:p>
            <a:endParaRPr lang="it-IT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Progetto finale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: Caso d'uso pratico l'ultimo giorno.</a:t>
            </a:r>
          </a:p>
        </p:txBody>
      </p:sp>
    </p:spTree>
    <p:extLst>
      <p:ext uri="{BB962C8B-B14F-4D97-AF65-F5344CB8AC3E}">
        <p14:creationId xmlns:p14="http://schemas.microsoft.com/office/powerpoint/2010/main" val="2037669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F91116A-DD42-989F-0200-2BEF52A3FAB0}"/>
              </a:ext>
            </a:extLst>
          </p:cNvPr>
          <p:cNvSpPr txBox="1"/>
          <p:nvPr/>
        </p:nvSpPr>
        <p:spPr>
          <a:xfrm>
            <a:off x="606829" y="426315"/>
            <a:ext cx="713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it-IT" dirty="0"/>
              <a:t>PERCHÉ PYTHON, NEL 2026</a:t>
            </a:r>
            <a:endParaRPr lang="en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3EBA63-B0C9-4C16-E5EF-70969C433C38}"/>
              </a:ext>
            </a:extLst>
          </p:cNvPr>
          <p:cNvSpPr txBox="1"/>
          <p:nvPr/>
        </p:nvSpPr>
        <p:spPr>
          <a:xfrm>
            <a:off x="606829" y="1335725"/>
            <a:ext cx="71645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1. È la lingua degli agenti</a:t>
            </a:r>
          </a:p>
          <a:p>
            <a:pPr algn="l"/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Copilot, Claude Code e Codex scrivono l'analisi dati in Python: per giudicarla bisogna leggerla.</a:t>
            </a:r>
          </a:p>
          <a:p>
            <a:pPr algn="l"/>
            <a:endParaRPr lang="it-IT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Le librerie fanno il lavoro</a:t>
            </a:r>
          </a:p>
          <a:p>
            <a:pPr algn="l"/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pandas, Plotly, requests: codice scritto da altri che va riconosciuto, non riscritto.</a:t>
            </a:r>
          </a:p>
          <a:p>
            <a:pPr algn="l"/>
            <a:endParaRPr lang="it-IT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3. Leggere è la competenza che resta</a:t>
            </a:r>
          </a:p>
          <a:p>
            <a:pPr algn="l"/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Chi sa cosa è una funzione, un metodo, un errore, capisce anche il codice che non ha scritto.</a:t>
            </a:r>
          </a:p>
        </p:txBody>
      </p:sp>
      <p:pic>
        <p:nvPicPr>
          <p:cNvPr id="6" name="Picture 2" descr="Python Programming Fundamentals - Learners Galaxy">
            <a:extLst>
              <a:ext uri="{FF2B5EF4-FFF2-40B4-BE49-F238E27FC236}">
                <a16:creationId xmlns:a16="http://schemas.microsoft.com/office/drawing/2014/main" id="{2D0D7024-8124-4A28-933B-5D517AC7B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586" y="480072"/>
            <a:ext cx="4557890" cy="256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585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22CEC-4EC5-32E1-87A6-A5CB6E3713B1}"/>
              </a:ext>
            </a:extLst>
          </p:cNvPr>
          <p:cNvSpPr txBox="1"/>
          <p:nvPr/>
        </p:nvSpPr>
        <p:spPr>
          <a:xfrm>
            <a:off x="606828" y="426315"/>
            <a:ext cx="947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COSA SAPREMO FARE ALLA FINE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583F81E-0E72-1D3A-595D-3856002E7D05}"/>
              </a:ext>
            </a:extLst>
          </p:cNvPr>
          <p:cNvSpPr txBox="1"/>
          <p:nvPr/>
        </p:nvSpPr>
        <p:spPr>
          <a:xfrm>
            <a:off x="606827" y="1266216"/>
            <a:ext cx="11363498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itchFamily="2" charset="2"/>
              <a:buChar char="ü"/>
            </a:pP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Aprire VS Code, un notebook e uno script e farli girare nell'ambiente giusto (uv, kernel, estensioni)</a:t>
            </a:r>
          </a:p>
          <a:p>
            <a:pPr algn="l"/>
            <a:endParaRPr lang="it-IT" sz="1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itchFamily="2" charset="2"/>
              <a:buChar char="ü"/>
            </a:pP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Dire cosa è cosa in una riga di codice: libreria, funzione, classe, oggetto, metodo, attributo</a:t>
            </a:r>
          </a:p>
          <a:p>
            <a:pPr algn="l"/>
            <a:endParaRPr lang="it-IT" sz="1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itchFamily="2" charset="2"/>
              <a:buChar char="ü"/>
            </a:pP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Distinguere la libreria standard dalle librerie installate, e sapere dove vivono</a:t>
            </a:r>
          </a:p>
          <a:p>
            <a:pPr algn="l"/>
            <a:endParaRPr lang="it-IT" sz="1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itchFamily="2" charset="2"/>
              <a:buChar char="ü"/>
            </a:pP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Usare liste, dizionari, condizioni, cicli e funzioni; leggere un traceback dal basso</a:t>
            </a:r>
          </a:p>
          <a:p>
            <a:pPr algn="l"/>
            <a:endParaRPr lang="it-IT" sz="1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itchFamily="2" charset="2"/>
              <a:buChar char="ü"/>
            </a:pP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Pulire, aggregare, unire e disegnare dati con pandas e Plotly; controllare con Ruff e Data Wrangler</a:t>
            </a:r>
          </a:p>
          <a:p>
            <a:pPr algn="l"/>
            <a:endParaRPr lang="it-IT" sz="1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itchFamily="2" charset="2"/>
              <a:buChar char="ü"/>
            </a:pP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Chiedere a un agente la cosa giusta con il contesto giusto, leggere quel che torna e verificarlo</a:t>
            </a:r>
          </a:p>
        </p:txBody>
      </p:sp>
    </p:spTree>
    <p:extLst>
      <p:ext uri="{BB962C8B-B14F-4D97-AF65-F5344CB8AC3E}">
        <p14:creationId xmlns:p14="http://schemas.microsoft.com/office/powerpoint/2010/main" val="1992754376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Titolo"/>
          <p:cNvSpPr txBox="1"/>
          <p:nvPr/>
        </p:nvSpPr>
        <p:spPr>
          <a:xfrm>
            <a:off x="606829" y="426315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Calibri"/>
                <a:cs typeface="Calibri"/>
              </a:rPr>
              <a:t>IL PROBLEMA: SUL MIO PC FUNZIONA</a:t>
            </a:r>
          </a:p>
        </p:txBody>
      </p:sp>
      <p:sp>
        <p:nvSpPr>
          <p:cNvPr id="3" name="TextBox Corpo"/>
          <p:cNvSpPr txBox="1"/>
          <p:nvPr/>
        </p:nvSpPr>
        <p:spPr>
          <a:xfrm>
            <a:off x="606829" y="1419107"/>
            <a:ext cx="113634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Lo script del collega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Usa pandas, numpy e requests: librerie che non arrivano insieme a Python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Sul suo PC gira, sul tuo no: lui ha pandas 1.5, tu la 3.0 o nessuna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Quale Python, quali librerie, quali versioni: nessuno lo ha scritto da nessuna parte</a:t>
            </a:r>
          </a:p>
          <a:p>
            <a:pPr algn="l"/>
            <a:endParaRPr sz="1200" lang="it-IT"/>
          </a:p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La risposta: un ambiente per progetto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Ogni progetto ha la sua cartella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.venv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, con il suo Python e le sue librerie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Le dipendenze stanno in un file,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pyproject.toml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; le versioni esatte in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uv.lock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Chi apre il progetto ricostruisce lo stesso ambiente, oggi e tra un anno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Titolo"/>
          <p:cNvSpPr txBox="1"/>
          <p:nvPr/>
        </p:nvSpPr>
        <p:spPr>
          <a:xfrm>
            <a:off x="606829" y="426315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Calibri"/>
                <a:cs typeface="Calibri"/>
              </a:rPr>
              <a:t>GLI STRUMENTI</a:t>
            </a:r>
          </a:p>
        </p:txBody>
      </p:sp>
      <p:sp>
        <p:nvSpPr>
          <p:cNvPr id="3" name="TextBox Corpo"/>
          <p:cNvSpPr txBox="1"/>
          <p:nvPr/>
        </p:nvSpPr>
        <p:spPr>
          <a:xfrm>
            <a:off x="606829" y="1419107"/>
            <a:ext cx="113634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Quattro strumenti per lo stesso lavoro: Python, ambiente e librerie di un progetto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6829" y="1920240"/>
          <a:ext cx="11365992" cy="288036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00200"/>
                <a:gridCol w="2441448"/>
                <a:gridCol w="2441448"/>
                <a:gridCol w="2441448"/>
                <a:gridCol w="2441448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pip + venv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conda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poetry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uv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Cosa fa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Installa librerie in un ambiente virtuale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Ambienti con Python e librerie, anche non Python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Progetto, dipendenze e lockfile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Python, ambiente, dipendenze e lockfile in un solo binario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Lockfile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No, requirements.txt scritto a mano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Parziale (environment.yml)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Sì (poetry.lock)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Sì (uv.lock)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Gestisce Python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Sì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Sì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Velocità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Media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Bassa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Media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Molto alta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Maturità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Lo standard, da sempre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Dal 2012, diffuso nel mondo scientifico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Dal 2018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Dal 2024, adozione rapidissima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Quando ha senso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Script piccoli, nessuno strumento in più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Pacchetti non Python: C, CUDA, R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Progetti che già lo usano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Progetti nuovi, e questo corso</a:t>
                      </a:r>
                    </a:p>
                  </a:txBody>
                  <a:tcPr marL="73152" marR="73152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Titolo"/>
          <p:cNvSpPr txBox="1"/>
          <p:nvPr/>
        </p:nvSpPr>
        <p:spPr>
          <a:xfrm>
            <a:off x="606829" y="426315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Calibri"/>
                <a:cs typeface="Calibri"/>
              </a:rPr>
              <a:t>UV IN PRATICA</a:t>
            </a:r>
          </a:p>
        </p:txBody>
      </p:sp>
      <p:sp>
        <p:nvSpPr>
          <p:cNvPr id="3" name="TextBox Corpo"/>
          <p:cNvSpPr txBox="1"/>
          <p:nvPr/>
        </p:nvSpPr>
        <p:spPr>
          <a:xfrm>
            <a:off x="606829" y="1419107"/>
            <a:ext cx="113634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Un solo strumento per Python, ambiente, dipendenze e lockfile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6829" y="1965960"/>
          <a:ext cx="11338560" cy="2468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66160"/>
                <a:gridCol w="77724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4151"/>
                          </a:solidFill>
                          <a:latin typeface="Consolas"/>
                          <a:cs typeface="Consolas"/>
                        </a:rPr>
                        <a:t>uv python install 3.13</a:t>
                      </a:r>
                    </a:p>
                  </a:txBody>
                  <a:tcPr marL="73152" marR="73152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Scarica Python 3.13, senza toccare quello del sistema</a:t>
                      </a:r>
                    </a:p>
                  </a:txBody>
                  <a:tcPr marL="73152" marR="73152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4151"/>
                          </a:solidFill>
                          <a:latin typeface="Consolas"/>
                          <a:cs typeface="Consolas"/>
                        </a:rPr>
                        <a:t>uv init</a:t>
                      </a:r>
                    </a:p>
                  </a:txBody>
                  <a:tcPr marL="73152" marR="73152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Crea un progetto: pyproject.toml e .python-version</a:t>
                      </a:r>
                    </a:p>
                  </a:txBody>
                  <a:tcPr marL="73152" marR="73152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4151"/>
                          </a:solidFill>
                          <a:latin typeface="Consolas"/>
                          <a:cs typeface="Consolas"/>
                        </a:rPr>
                        <a:t>uv add pandas</a:t>
                      </a:r>
                    </a:p>
                  </a:txBody>
                  <a:tcPr marL="73152" marR="73152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Aggiunge pandas alle dipendenze, aggiorna uv.lock e il .venv</a:t>
                      </a:r>
                    </a:p>
                  </a:txBody>
                  <a:tcPr marL="73152" marR="73152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4151"/>
                          </a:solidFill>
                          <a:latin typeface="Consolas"/>
                          <a:cs typeface="Consolas"/>
                        </a:rPr>
                        <a:t>uv sync</a:t>
                      </a:r>
                    </a:p>
                  </a:txBody>
                  <a:tcPr marL="73152" marR="73152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Ricostruisce il .venv esatto descritto da uv.lock</a:t>
                      </a:r>
                    </a:p>
                  </a:txBody>
                  <a:tcPr marL="73152" marR="73152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4151"/>
                          </a:solidFill>
                          <a:latin typeface="Consolas"/>
                          <a:cs typeface="Consolas"/>
                        </a:rPr>
                        <a:t>uv run script.py</a:t>
                      </a:r>
                    </a:p>
                  </a:txBody>
                  <a:tcPr marL="73152" marR="73152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Esegue lo script nell'ambiente del progetto, senza attivarlo</a:t>
                      </a:r>
                    </a:p>
                  </a:txBody>
                  <a:tcPr marL="73152" marR="73152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74151"/>
                          </a:solidFill>
                          <a:latin typeface="Consolas"/>
                          <a:cs typeface="Consolas"/>
                        </a:rPr>
                        <a:t>uvx ruff check .</a:t>
                      </a:r>
                    </a:p>
                  </a:txBody>
                  <a:tcPr marL="73152" marR="73152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74151"/>
                          </a:solidFill>
                          <a:latin typeface="Calibri"/>
                          <a:cs typeface="Calibri"/>
                        </a:rPr>
                        <a:t>Lancia uno strumento (qui Ruff) senza installarlo nel progetto</a:t>
                      </a:r>
                    </a:p>
                  </a:txBody>
                  <a:tcPr marL="73152" marR="73152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Corpo"/>
          <p:cNvSpPr txBox="1"/>
          <p:nvPr/>
        </p:nvSpPr>
        <p:spPr>
          <a:xfrm>
            <a:off x="606829" y="4709160"/>
            <a:ext cx="113634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Niente </a:t>
            </a:r>
            <a:r>
              <a:rPr sz="1800" b="1">
                <a:solidFill>
                  <a:srgbClr val="374151"/>
                </a:solidFill>
                <a:latin typeface="Consolas"/>
                <a:cs typeface="Consolas"/>
              </a:rPr>
              <a:t>pip install</a:t>
            </a: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 nel notebook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nel terminale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uv add nome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, poi </a:t>
            </a: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Restart kernel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Titolo"/>
          <p:cNvSpPr txBox="1"/>
          <p:nvPr/>
        </p:nvSpPr>
        <p:spPr>
          <a:xfrm>
            <a:off x="606829" y="426315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Calibri"/>
                <a:cs typeface="Calibri"/>
              </a:rPr>
              <a:t>PERCHÉ È VELOCE</a:t>
            </a:r>
          </a:p>
        </p:txBody>
      </p:sp>
      <p:sp>
        <p:nvSpPr>
          <p:cNvPr id="3" name="TextBox Corpo"/>
          <p:cNvSpPr txBox="1"/>
          <p:nvPr/>
        </p:nvSpPr>
        <p:spPr>
          <a:xfrm>
            <a:off x="606829" y="1419107"/>
            <a:ext cx="113634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Tre scelte tecniche, nessuna magia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Resolver scritto in Rust: trova le versioni compatibili in una frazione di secondo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Download paralleli: le librerie arrivano tutte insieme, non una alla volta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Cache globale: una libreria già scaricata non si scarica più, si collega (hard link)</a:t>
            </a:r>
          </a:p>
          <a:p>
            <a:pPr algn="l"/>
            <a:endParaRPr sz="1200" lang="it-IT"/>
          </a:p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Cosa cambia per noi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Creare il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.venv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 del corso richiede secondi, anche con pandas e Plotly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uv sync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 ricostruisce lo stesso ambiente su trenta PC, Windows e Mac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Se qualcosa si rompe: cancelli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.venv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, rilanci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uv sync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, sei al punto di partenza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Titolo"/>
          <p:cNvSpPr txBox="1"/>
          <p:nvPr/>
        </p:nvSpPr>
        <p:spPr>
          <a:xfrm>
            <a:off x="606829" y="426315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Calibri"/>
                <a:cs typeface="Calibri"/>
              </a:rPr>
              <a:t>SETUP DEL CORSO</a:t>
            </a:r>
          </a:p>
        </p:txBody>
      </p:sp>
      <p:sp>
        <p:nvSpPr>
          <p:cNvPr id="3" name="TextBox Corpo"/>
          <p:cNvSpPr txBox="1"/>
          <p:nvPr/>
        </p:nvSpPr>
        <p:spPr>
          <a:xfrm>
            <a:off x="606829" y="1419107"/>
            <a:ext cx="113634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42900" indent="-342900">
              <a:buNone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1. Installare uv</a:t>
            </a:r>
          </a:p>
          <a:p>
            <a:pPr algn="l" marL="342900" indent="0">
              <a:buNone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Windows: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winget install astral-sh.uv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    Mac: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brew install uv</a:t>
            </a:r>
          </a:p>
          <a:p>
            <a:pPr algn="l" marL="342900" indent="-342900">
              <a:buNone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2. Scompattare la cartella del corso</a:t>
            </a:r>
          </a:p>
          <a:p>
            <a:pPr algn="l" marL="342900" indent="0">
              <a:buNone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Lo zip Aula_Base o Aula_Avanzata, in un percorso breve fuori da OneDrive, come C:\Corso\</a:t>
            </a:r>
          </a:p>
          <a:p>
            <a:pPr algn="l" marL="342900" indent="-342900">
              <a:buNone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3. Aprire la cartella in VS Code</a:t>
            </a:r>
          </a:p>
          <a:p>
            <a:pPr algn="l" marL="342900" indent="0">
              <a:buNone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File → Apri cartella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 su Aula_Base o Aula_Avanzata; estensioni Python e Jupyter installate</a:t>
            </a:r>
          </a:p>
          <a:p>
            <a:pPr algn="l" marL="342900" indent="-342900">
              <a:buNone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4. Nel terminale di VS Code: </a:t>
            </a:r>
            <a:r>
              <a:rPr sz="1800" b="1">
                <a:solidFill>
                  <a:srgbClr val="374151"/>
                </a:solidFill>
                <a:latin typeface="Consolas"/>
                <a:cs typeface="Consolas"/>
              </a:rPr>
              <a:t>uv sync</a:t>
            </a:r>
          </a:p>
          <a:p>
            <a:pPr algn="l" marL="342900" indent="0">
              <a:buNone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Crea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.venv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 con Python 3.13 e tutte le librerie del corso, in pochi secondi</a:t>
            </a:r>
          </a:p>
          <a:p>
            <a:pPr algn="l" marL="342900" indent="-342900">
              <a:buNone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5. Aprire Modulo_1/00_Notebook e scegliere il kernel</a:t>
            </a:r>
          </a:p>
          <a:p>
            <a:pPr algn="l" marL="342900" indent="0">
              <a:buNone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Select Kernel → Python Environments → .venv</a:t>
            </a:r>
          </a:p>
          <a:p>
            <a:pPr algn="l" marL="342900" indent="0">
              <a:buNone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Nel notebook: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sys.executable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 deve contenere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.venv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22CEC-4EC5-32E1-87A6-A5CB6E3713B1}"/>
              </a:ext>
            </a:extLst>
          </p:cNvPr>
          <p:cNvSpPr txBox="1"/>
          <p:nvPr/>
        </p:nvSpPr>
        <p:spPr>
          <a:xfrm>
            <a:off x="606828" y="426315"/>
            <a:ext cx="7903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T" dirty="0"/>
              <a:t>INTRODUZIONE</a:t>
            </a:r>
            <a:r>
              <a:rPr lang="it-IT" dirty="0"/>
              <a:t> AGLI OGGETTI IN PYTHON</a:t>
            </a:r>
            <a:endParaRPr lang="en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C2BE47-33EF-AE3E-81AF-B8DE77F04C90}"/>
              </a:ext>
            </a:extLst>
          </p:cNvPr>
          <p:cNvSpPr txBox="1"/>
          <p:nvPr/>
        </p:nvSpPr>
        <p:spPr>
          <a:xfrm>
            <a:off x="515250" y="953774"/>
            <a:ext cx="111614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Tutto è un </a:t>
            </a:r>
            <a:r>
              <a:rPr lang="it-IT" dirty="0" b="1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oggetto</a:t>
            </a:r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un numero, un testo, una lista, un DataFrame.</a:t>
            </a:r>
          </a:p>
          <a:p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Ogni oggetto è fatto da una </a:t>
            </a:r>
            <a:r>
              <a:rPr lang="it-IT" dirty="0" b="1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classe</a:t>
            </a:r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, lo stampo: </a:t>
            </a:r>
            <a:r>
              <a:rPr lang="it-IT" dirty="0" b="0" sz="1400">
                <a:solidFill>
                  <a:srgbClr val="374151"/>
                </a:solidFill>
                <a:latin typeface="Consolas"/>
                <a:cs typeface="Consolas"/>
              </a:rPr>
              <a:t>letture</a:t>
            </a:r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 è un DataFrame, </a:t>
            </a:r>
            <a:r>
              <a:rPr lang="it-IT" dirty="0" b="0" sz="1400">
                <a:solidFill>
                  <a:srgbClr val="374151"/>
                </a:solidFill>
                <a:latin typeface="Consolas"/>
                <a:cs typeface="Consolas"/>
              </a:rPr>
              <a:t>"IT001E"</a:t>
            </a:r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 è una str.</a:t>
            </a:r>
          </a:p>
          <a:p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Un oggetto ha </a:t>
            </a:r>
            <a:r>
              <a:rPr lang="it-IT" dirty="0" b="1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attributi</a:t>
            </a:r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 (dati, senza parentesi: </a:t>
            </a:r>
            <a:r>
              <a:rPr lang="it-IT" dirty="0" b="0" sz="1400">
                <a:solidFill>
                  <a:srgbClr val="374151"/>
                </a:solidFill>
                <a:latin typeface="Consolas"/>
                <a:cs typeface="Consolas"/>
              </a:rPr>
              <a:t>letture.shape</a:t>
            </a:r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) e </a:t>
            </a:r>
            <a:r>
              <a:rPr lang="it-IT" dirty="0" b="1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metodi</a:t>
            </a:r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 (azioni, con le parentesi: </a:t>
            </a:r>
            <a:r>
              <a:rPr lang="it-IT" dirty="0" b="0" sz="1400">
                <a:solidFill>
                  <a:srgbClr val="374151"/>
                </a:solidFill>
                <a:latin typeface="Consolas"/>
                <a:cs typeface="Consolas"/>
              </a:rPr>
              <a:t>letture.head()</a:t>
            </a:r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Le </a:t>
            </a:r>
            <a:r>
              <a:rPr lang="it-IT" dirty="0" b="1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librerie</a:t>
            </a:r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 sono cartelle di moduli con dentro classi e funzioni: </a:t>
            </a:r>
            <a:r>
              <a:rPr lang="it-IT" dirty="0" b="0" sz="1400">
                <a:solidFill>
                  <a:srgbClr val="374151"/>
                </a:solidFill>
                <a:latin typeface="Consolas"/>
                <a:cs typeface="Consolas"/>
              </a:rPr>
              <a:t>pd.read_csv</a:t>
            </a:r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 è una funzione di pandas, </a:t>
            </a:r>
            <a:r>
              <a:rPr lang="it-IT" dirty="0" b="0" sz="1400">
                <a:solidFill>
                  <a:srgbClr val="374151"/>
                </a:solidFill>
                <a:latin typeface="Consolas"/>
                <a:cs typeface="Consolas"/>
              </a:rPr>
              <a:t>plotly.express</a:t>
            </a:r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 un sottomodulo.</a:t>
            </a:r>
          </a:p>
          <a:p>
            <a:r>
              <a:rPr lang="it-IT" dirty="0" b="1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Regola</a:t>
            </a:r>
            <a:r>
              <a:rPr lang="it-IT" dirty="0" b="0" sz="160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 sinistra del punto c'è chi fa il lavoro.</a:t>
            </a:r>
          </a:p>
        </p:txBody>
      </p:sp>
      <p:pic>
        <p:nvPicPr>
          <p:cNvPr id="8" name="Picture 7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FA6A9278-65FD-FF61-9052-C15BED8D4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" y="3794914"/>
            <a:ext cx="1298448" cy="12984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09C37B-7A43-15F2-595F-AE1856451FF0}"/>
              </a:ext>
            </a:extLst>
          </p:cNvPr>
          <p:cNvSpPr txBox="1"/>
          <p:nvPr/>
        </p:nvSpPr>
        <p:spPr>
          <a:xfrm>
            <a:off x="2025141" y="3311181"/>
            <a:ext cx="1070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rgbClr val="000000"/>
                </a:solidFill>
                <a:latin typeface="-webkit-standard"/>
              </a:rPr>
              <a:t>studente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1CE07-9D63-6155-8D79-7BA96D7C761E}"/>
              </a:ext>
            </a:extLst>
          </p:cNvPr>
          <p:cNvSpPr/>
          <p:nvPr/>
        </p:nvSpPr>
        <p:spPr>
          <a:xfrm>
            <a:off x="2487168" y="3900070"/>
            <a:ext cx="1084933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Nome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C7E92A-B695-2DA9-A58D-C3F938DF1C43}"/>
              </a:ext>
            </a:extLst>
          </p:cNvPr>
          <p:cNvSpPr/>
          <p:nvPr/>
        </p:nvSpPr>
        <p:spPr>
          <a:xfrm>
            <a:off x="2493400" y="4178808"/>
            <a:ext cx="1078701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Cognome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05742-42A5-A83C-37FD-4F11A7C22DFF}"/>
              </a:ext>
            </a:extLst>
          </p:cNvPr>
          <p:cNvSpPr/>
          <p:nvPr/>
        </p:nvSpPr>
        <p:spPr>
          <a:xfrm>
            <a:off x="2499513" y="4477406"/>
            <a:ext cx="1078701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Facoltà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686EFC-B093-9CF4-C7C7-894372E31822}"/>
              </a:ext>
            </a:extLst>
          </p:cNvPr>
          <p:cNvSpPr/>
          <p:nvPr/>
        </p:nvSpPr>
        <p:spPr>
          <a:xfrm>
            <a:off x="2487168" y="4776004"/>
            <a:ext cx="1091046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Voti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ACB3115-F564-AB51-2471-1BF1909094FB}"/>
              </a:ext>
            </a:extLst>
          </p:cNvPr>
          <p:cNvSpPr/>
          <p:nvPr/>
        </p:nvSpPr>
        <p:spPr>
          <a:xfrm>
            <a:off x="1188720" y="3642574"/>
            <a:ext cx="2743200" cy="15633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DD87E95-6C33-B6D8-97D6-33658F88E2F3}"/>
              </a:ext>
            </a:extLst>
          </p:cNvPr>
          <p:cNvSpPr/>
          <p:nvPr/>
        </p:nvSpPr>
        <p:spPr>
          <a:xfrm>
            <a:off x="1188720" y="3365575"/>
            <a:ext cx="2743200" cy="184036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16" name="Picture 15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9DAF0F53-B7CD-3E47-00B1-B72702663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304" y="2880360"/>
            <a:ext cx="1298448" cy="12984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FD26D12-1F5C-0B76-1766-8D2518E42D01}"/>
              </a:ext>
            </a:extLst>
          </p:cNvPr>
          <p:cNvSpPr/>
          <p:nvPr/>
        </p:nvSpPr>
        <p:spPr>
          <a:xfrm>
            <a:off x="7540752" y="2985516"/>
            <a:ext cx="1084933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Mario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7BE950-87C3-A18C-BAD2-463EF788DFCC}"/>
              </a:ext>
            </a:extLst>
          </p:cNvPr>
          <p:cNvSpPr/>
          <p:nvPr/>
        </p:nvSpPr>
        <p:spPr>
          <a:xfrm>
            <a:off x="7546984" y="3264254"/>
            <a:ext cx="1078701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Rossi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A383AE-2E13-CE1D-53D8-8FDC0DF1D424}"/>
              </a:ext>
            </a:extLst>
          </p:cNvPr>
          <p:cNvSpPr/>
          <p:nvPr/>
        </p:nvSpPr>
        <p:spPr>
          <a:xfrm>
            <a:off x="7553097" y="3562852"/>
            <a:ext cx="1078701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Medicina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EB3298-AF06-2CDD-FD7A-F4EFA5286778}"/>
              </a:ext>
            </a:extLst>
          </p:cNvPr>
          <p:cNvSpPr/>
          <p:nvPr/>
        </p:nvSpPr>
        <p:spPr>
          <a:xfrm>
            <a:off x="7540752" y="3861450"/>
            <a:ext cx="1091046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28, 25, 30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220112A-D2FA-1A5A-4135-EFCFB3C3FABC}"/>
              </a:ext>
            </a:extLst>
          </p:cNvPr>
          <p:cNvSpPr/>
          <p:nvPr/>
        </p:nvSpPr>
        <p:spPr>
          <a:xfrm>
            <a:off x="6242304" y="2775262"/>
            <a:ext cx="2575562" cy="140354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40" name="Picture 39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7A917EE9-2403-05B3-A5A9-1E574E785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304" y="4617133"/>
            <a:ext cx="1298448" cy="1298448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50012DC-5B91-40C9-2F95-AFF62A82D36B}"/>
              </a:ext>
            </a:extLst>
          </p:cNvPr>
          <p:cNvSpPr/>
          <p:nvPr/>
        </p:nvSpPr>
        <p:spPr>
          <a:xfrm>
            <a:off x="7540752" y="4722289"/>
            <a:ext cx="1084933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Luigi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2C80ECE-BA91-8D22-B682-D6DDA680A6B2}"/>
              </a:ext>
            </a:extLst>
          </p:cNvPr>
          <p:cNvSpPr/>
          <p:nvPr/>
        </p:nvSpPr>
        <p:spPr>
          <a:xfrm>
            <a:off x="7546984" y="5001027"/>
            <a:ext cx="1078701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Verdi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99AB4D6-53D9-DA42-9843-5A58FAEE51DE}"/>
              </a:ext>
            </a:extLst>
          </p:cNvPr>
          <p:cNvSpPr/>
          <p:nvPr/>
        </p:nvSpPr>
        <p:spPr>
          <a:xfrm>
            <a:off x="7553097" y="5299625"/>
            <a:ext cx="1078701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Fisica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04A7C7-DEF4-7C90-BF7C-3995786C62E9}"/>
              </a:ext>
            </a:extLst>
          </p:cNvPr>
          <p:cNvSpPr/>
          <p:nvPr/>
        </p:nvSpPr>
        <p:spPr>
          <a:xfrm>
            <a:off x="7540752" y="5598223"/>
            <a:ext cx="1091046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25, 30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9E2E8D4-3007-CC2F-A4BE-9BCC70E27CD6}"/>
              </a:ext>
            </a:extLst>
          </p:cNvPr>
          <p:cNvSpPr/>
          <p:nvPr/>
        </p:nvSpPr>
        <p:spPr>
          <a:xfrm>
            <a:off x="6242304" y="4512035"/>
            <a:ext cx="2575562" cy="140354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32834B21-876F-68CA-9334-E655ED7A7CDE}"/>
              </a:ext>
            </a:extLst>
          </p:cNvPr>
          <p:cNvSpPr/>
          <p:nvPr/>
        </p:nvSpPr>
        <p:spPr>
          <a:xfrm>
            <a:off x="4782312" y="4178808"/>
            <a:ext cx="768096" cy="42965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569206-C769-F75E-9893-F72C4E433191}"/>
              </a:ext>
            </a:extLst>
          </p:cNvPr>
          <p:cNvSpPr txBox="1"/>
          <p:nvPr/>
        </p:nvSpPr>
        <p:spPr>
          <a:xfrm>
            <a:off x="606829" y="2695694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Classe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60D228-BC7F-ACF4-0070-4C394764FF87}"/>
              </a:ext>
            </a:extLst>
          </p:cNvPr>
          <p:cNvSpPr txBox="1"/>
          <p:nvPr/>
        </p:nvSpPr>
        <p:spPr>
          <a:xfrm>
            <a:off x="5178544" y="2704299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Istanze</a:t>
            </a:r>
          </a:p>
        </p:txBody>
      </p:sp>
    </p:spTree>
    <p:extLst>
      <p:ext uri="{BB962C8B-B14F-4D97-AF65-F5344CB8AC3E}">
        <p14:creationId xmlns:p14="http://schemas.microsoft.com/office/powerpoint/2010/main" val="92591119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Titolo"/>
          <p:cNvSpPr txBox="1"/>
          <p:nvPr/>
        </p:nvSpPr>
        <p:spPr>
          <a:xfrm>
            <a:off x="606829" y="426315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Calibri"/>
                <a:cs typeface="Calibri"/>
              </a:rPr>
              <a:t>AGENTI PER IL CODING</a:t>
            </a:r>
          </a:p>
        </p:txBody>
      </p:sp>
      <p:sp>
        <p:nvSpPr>
          <p:cNvPr id="3" name="TextBox Corpo"/>
          <p:cNvSpPr txBox="1"/>
          <p:nvPr/>
        </p:nvSpPr>
        <p:spPr>
          <a:xfrm>
            <a:off x="606829" y="1419107"/>
            <a:ext cx="113634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Cosa sono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GitHub Copilot in VS Code, Claude Code, Codex: la stessa cosa in tre vestiti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Un modello di linguaggio che legge il tuo codice e ne scrive altro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Per giudicare il codice che propongono serve il vocabolario dei primi tre blocchi</a:t>
            </a:r>
          </a:p>
          <a:p>
            <a:pPr algn="l"/>
            <a:endParaRPr sz="1200" lang="it-IT"/>
          </a:p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Tre modi di usarli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Completamento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scrivi l'inizio di una riga, propone il resto, </a:t>
            </a: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Tab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 per accettare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Chat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una domanda sul codice aperto, una risposta con un esempio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Modalità agent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un compito, e lui scrive i file, lancia i comandi, legge gli errori</a:t>
            </a:r>
          </a:p>
          <a:p>
            <a:pPr algn="l" marL="342900" indent="-342900"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Leggere quello che scrive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import, costanti, def, main; decoratori e type hint si riconoscono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Titolo"/>
          <p:cNvSpPr txBox="1"/>
          <p:nvPr/>
        </p:nvSpPr>
        <p:spPr>
          <a:xfrm>
            <a:off x="606829" y="426315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Calibri"/>
                <a:cs typeface="Calibri"/>
              </a:rPr>
              <a:t>LE PAROLE DA SAPERE</a:t>
            </a:r>
          </a:p>
        </p:txBody>
      </p:sp>
      <p:sp>
        <p:nvSpPr>
          <p:cNvPr id="3" name="TextBox Corpo"/>
          <p:cNvSpPr txBox="1"/>
          <p:nvPr/>
        </p:nvSpPr>
        <p:spPr>
          <a:xfrm>
            <a:off x="606829" y="1419107"/>
            <a:ext cx="113634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Token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pezzo di parola, circa quattro caratteri; il modello legge e scrive token, non frasi</a:t>
            </a:r>
          </a:p>
          <a:p>
            <a:pPr algn="l"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Finestra di contesto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quanto tiene in memoria in una volta; ciò che non ci sta, non lo sa</a:t>
            </a:r>
          </a:p>
          <a:p>
            <a:pPr algn="l"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Cache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la parte ripetuta del contesto costa meno; non lo rende più bravo</a:t>
            </a:r>
          </a:p>
          <a:p>
            <a:pPr algn="l"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Modello piccolo vs grande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piccolo e veloce per completare una riga, grande per ragionare</a:t>
            </a:r>
          </a:p>
          <a:p>
            <a:pPr algn="l"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Plan vs agent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in plan descrive cosa farebbe e tu leggi; in agent lo fa, scrive file e lancia comandi</a:t>
            </a:r>
          </a:p>
          <a:p>
            <a:pPr algn="l"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Prompt engineering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dire bene cosa vuoi</a:t>
            </a:r>
          </a:p>
          <a:p>
            <a:pPr algn="l"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Context engineering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dargli il materiale giusto: </a:t>
            </a:r>
            <a:r>
              <a:rPr sz="1800" b="0">
                <a:solidFill>
                  <a:srgbClr val="374151"/>
                </a:solidFill>
                <a:latin typeface="Consolas"/>
                <a:cs typeface="Consolas"/>
              </a:rPr>
              <a:t>head()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 del dato, nomi delle colonne, traceback intero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Titolo"/>
          <p:cNvSpPr txBox="1"/>
          <p:nvPr/>
        </p:nvSpPr>
        <p:spPr>
          <a:xfrm>
            <a:off x="606829" y="426315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Calibri"/>
                <a:cs typeface="Calibri"/>
              </a:rPr>
              <a:t>TRE REGOLE</a:t>
            </a:r>
          </a:p>
        </p:txBody>
      </p:sp>
      <p:sp>
        <p:nvSpPr>
          <p:cNvPr id="3" name="TextBox Corpo"/>
          <p:cNvSpPr txBox="1"/>
          <p:nvPr/>
        </p:nvSpPr>
        <p:spPr>
          <a:xfrm>
            <a:off x="606829" y="1419107"/>
            <a:ext cx="113634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1. Verifica</a:t>
            </a:r>
          </a:p>
          <a:p>
            <a:pPr algn="l" marL="342900" indent="0">
              <a:buNone/>
            </a:pPr>
            <a:r>
              <a:rPr sz="2200" b="0">
                <a:solidFill>
                  <a:srgbClr val="374151"/>
                </a:solidFill>
                <a:latin typeface="Calibri"/>
                <a:cs typeface="Calibri"/>
              </a:rPr>
              <a:t>Esegui il codice, guarda </a:t>
            </a:r>
            <a:r>
              <a:rPr sz="2000" b="0">
                <a:solidFill>
                  <a:srgbClr val="374151"/>
                </a:solidFill>
                <a:latin typeface="Consolas"/>
                <a:cs typeface="Consolas"/>
              </a:rPr>
              <a:t>head()</a:t>
            </a:r>
            <a:r>
              <a:rPr sz="2200" b="0">
                <a:solidFill>
                  <a:srgbClr val="374151"/>
                </a:solidFill>
                <a:latin typeface="Calibri"/>
                <a:cs typeface="Calibri"/>
              </a:rPr>
              <a:t>, controlla una somma a mano</a:t>
            </a:r>
          </a:p>
          <a:p>
            <a:pPr algn="l"/>
            <a:endParaRPr sz="1400" lang="it-IT"/>
          </a:p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2. Chiedi spiegazioni</a:t>
            </a:r>
          </a:p>
          <a:p>
            <a:pPr algn="l" marL="342900" indent="0">
              <a:buNone/>
            </a:pPr>
            <a:r>
              <a:rPr sz="2200" b="0">
                <a:solidFill>
                  <a:srgbClr val="374151"/>
                </a:solidFill>
                <a:latin typeface="Calibri"/>
                <a:cs typeface="Calibri"/>
              </a:rPr>
              <a:t>Finché non sapresti riscriverlo da solo, riga per riga</a:t>
            </a:r>
          </a:p>
          <a:p>
            <a:pPr algn="l"/>
            <a:endParaRPr sz="1400" lang="it-IT"/>
          </a:p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3. Piccoli passi</a:t>
            </a:r>
          </a:p>
          <a:p>
            <a:pPr algn="l" marL="342900" indent="0">
              <a:buNone/>
            </a:pPr>
            <a:r>
              <a:rPr sz="2200" b="0">
                <a:solidFill>
                  <a:srgbClr val="374151"/>
                </a:solidFill>
                <a:latin typeface="Calibri"/>
                <a:cs typeface="Calibri"/>
              </a:rPr>
              <a:t>Una cella alla volta; mai “fammi tutta l'analisi”</a:t>
            </a:r>
          </a:p>
          <a:p>
            <a:pPr algn="l"/>
            <a:endParaRPr sz="1400" lang="it-IT"/>
          </a:p>
          <a:p>
            <a:pPr algn="l"/>
            <a:endParaRPr sz="1400" lang="it-IT"/>
          </a:p>
          <a:p>
            <a:pPr algn="l"/>
            <a:r>
              <a:rPr sz="2400" b="1">
                <a:solidFill>
                  <a:srgbClr val="374151"/>
                </a:solidFill>
                <a:latin typeface="Calibri"/>
                <a:cs typeface="Calibri"/>
              </a:rPr>
              <a:t>Codice che non capisci non è tuo, ma in produzione il problema sarà tuo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Titolo"/>
          <p:cNvSpPr txBox="1"/>
          <p:nvPr/>
        </p:nvSpPr>
        <p:spPr>
          <a:xfrm>
            <a:off x="606829" y="426315"/>
            <a:ext cx="10972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Calibri"/>
                <a:cs typeface="Calibri"/>
              </a:rPr>
              <a:t>IL CAPSTONE: IL CARICO DEL NORD E LA TEMPERATURA</a:t>
            </a:r>
          </a:p>
        </p:txBody>
      </p:sp>
      <p:sp>
        <p:nvSpPr>
          <p:cNvPr id="3" name="TextBox Corpo"/>
          <p:cNvSpPr txBox="1"/>
          <p:nvPr/>
        </p:nvSpPr>
        <p:spPr>
          <a:xfrm>
            <a:off x="606829" y="1419107"/>
            <a:ext cx="1136349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La domanda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quanto pesa la temperatura sul carico elettrico della zona Nord</a:t>
            </a:r>
          </a:p>
          <a:p>
            <a:pPr algn="l"/>
            <a:endParaRPr sz="1200" lang="it-IT"/>
          </a:p>
          <a:p>
            <a:pPr algn="l" marL="342900" indent="-342900">
              <a:buNone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1. Caricamento e unione dei dati Terna 2024 e 2025: zona Nord, quartorari</a:t>
            </a:r>
          </a:p>
          <a:p>
            <a:pPr algn="l" marL="342900" indent="-342900">
              <a:buNone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2. Colonna temporale e prima visualizzazione; via le colonne che non servono</a:t>
            </a:r>
          </a:p>
          <a:p>
            <a:pPr algn="l" marL="342900" indent="-342900">
              <a:buNone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3. Ora legale: i duplicati di ottobre e i buchi di marzo</a:t>
            </a:r>
          </a:p>
          <a:p>
            <a:pPr algn="l" marL="342900" indent="-342900">
              <a:buNone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4. Serie giornaliera e profili medi per ora e per giorno della settimana</a:t>
            </a:r>
          </a:p>
          <a:p>
            <a:pPr algn="l" marL="342900" indent="-342900">
              <a:buNone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5. Temperatura oraria da Open-Meteo: API con requests, file di riserva se manca la rete</a:t>
            </a:r>
          </a:p>
          <a:p>
            <a:pPr algn="l" marL="342900" indent="-342900">
              <a:buNone/>
            </a:pP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6. Carico e temperatura: scatter con Plotly e cinque frasi di conclusione</a:t>
            </a:r>
          </a:p>
          <a:p>
            <a:pPr algn="l"/>
            <a:endParaRPr sz="1200" lang="it-IT"/>
          </a:p>
          <a:p>
            <a:pPr algn="l"/>
            <a:r>
              <a:rPr sz="2000" b="1">
                <a:solidFill>
                  <a:srgbClr val="374151"/>
                </a:solidFill>
                <a:latin typeface="Calibri"/>
                <a:cs typeface="Calibri"/>
              </a:rPr>
              <a:t>A ogni passo</a:t>
            </a:r>
            <a:r>
              <a:rPr sz="2000" b="0">
                <a:solidFill>
                  <a:srgbClr val="374151"/>
                </a:solidFill>
                <a:latin typeface="Calibri"/>
                <a:cs typeface="Calibri"/>
              </a:rPr>
              <a:t>: questo l'ho già fatto, in piccolo, durante il corso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7196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zato 1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433660c-feb5-4128-8540-15a171772da6" xsi:nil="true"/>
    <lcf76f155ced4ddcb4097134ff3c332f xmlns="e4231d99-7c26-474c-b5f4-3357e8fa85e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1E5CD625E675A42B6040BD7E58EFFBA" ma:contentTypeVersion="12" ma:contentTypeDescription="Creare un nuovo documento." ma:contentTypeScope="" ma:versionID="fb807d1fa8a06276b1e97d58e4ac795d">
  <xsd:schema xmlns:xsd="http://www.w3.org/2001/XMLSchema" xmlns:xs="http://www.w3.org/2001/XMLSchema" xmlns:p="http://schemas.microsoft.com/office/2006/metadata/properties" xmlns:ns2="e4231d99-7c26-474c-b5f4-3357e8fa85e0" xmlns:ns3="2433660c-feb5-4128-8540-15a171772da6" targetNamespace="http://schemas.microsoft.com/office/2006/metadata/properties" ma:root="true" ma:fieldsID="954fedd8067609b9d82db79984110376" ns2:_="" ns3:_="">
    <xsd:import namespace="e4231d99-7c26-474c-b5f4-3357e8fa85e0"/>
    <xsd:import namespace="2433660c-feb5-4128-8540-15a171772d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231d99-7c26-474c-b5f4-3357e8fa85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e92e9c1d-0a16-416f-8786-90fcd36246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33660c-feb5-4128-8540-15a171772d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391645e-5bfa-426b-8620-88ebf7d65de1}" ma:internalName="TaxCatchAll" ma:showField="CatchAllData" ma:web="2433660c-feb5-4128-8540-15a171772d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7929D8-7F94-4DD8-89C5-765AD6E14F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50C1AF-50D7-4AF8-99E6-A8110CED6891}">
  <ds:schemaRefs>
    <ds:schemaRef ds:uri="http://schemas.microsoft.com/office/2006/metadata/properties"/>
    <ds:schemaRef ds:uri="http://schemas.microsoft.com/office/infopath/2007/PartnerControls"/>
    <ds:schemaRef ds:uri="2433660c-feb5-4128-8540-15a171772da6"/>
    <ds:schemaRef ds:uri="e4231d99-7c26-474c-b5f4-3357e8fa85e0"/>
  </ds:schemaRefs>
</ds:datastoreItem>
</file>

<file path=customXml/itemProps3.xml><?xml version="1.0" encoding="utf-8"?>
<ds:datastoreItem xmlns:ds="http://schemas.openxmlformats.org/officeDocument/2006/customXml" ds:itemID="{39638608-AC74-4D89-871F-5A43E986A9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231d99-7c26-474c-b5f4-3357e8fa85e0"/>
    <ds:schemaRef ds:uri="2433660c-feb5-4128-8540-15a171772d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8931</TotalTime>
  <Words>718</Words>
  <Application>Microsoft Office PowerPoint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Helvetica</vt:lpstr>
      <vt:lpstr>Lato</vt:lpstr>
      <vt:lpstr>Lato Black</vt:lpstr>
      <vt:lpstr>-webkit-standard</vt:lpstr>
      <vt:lpstr>Wingdings</vt:lpstr>
      <vt:lpstr>Tema di Office</vt:lpstr>
      <vt:lpstr>Personalizza struttura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Camilla Ferraro</dc:creator>
  <cp:lastModifiedBy>Corvaglia Andrea</cp:lastModifiedBy>
  <cp:revision>35</cp:revision>
  <dcterms:created xsi:type="dcterms:W3CDTF">2022-12-16T09:28:59Z</dcterms:created>
  <dcterms:modified xsi:type="dcterms:W3CDTF">2026-01-19T09:14:31Z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0x01010041E5CD625E675A42B6040BD7E58EFFBA</vt:lpwstr>
  </property>
</Properties>
</file>