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0" r:id="rId5"/>
  </p:sldMasterIdLst>
  <p:handoutMasterIdLst>
    <p:handoutMasterId r:id="rId19"/>
  </p:handoutMasterIdLst>
  <p:sldIdLst>
    <p:sldId id="257" r:id="rId6"/>
    <p:sldId id="267" r:id="rId7"/>
    <p:sldId id="260" r:id="rId8"/>
    <p:sldId id="262" r:id="rId9"/>
    <p:sldId id="263" r:id="rId10"/>
    <p:sldId id="273" r:id="rId11"/>
    <p:sldId id="325" r:id="rId26"/>
    <p:sldId id="326" r:id="rId27"/>
    <p:sldId id="327" r:id="rId28"/>
    <p:sldId id="328" r:id="rId29"/>
    <p:sldId id="329" r:id="rId30"/>
    <p:sldId id="270" r:id="rId12"/>
    <p:sldId id="330" r:id="rId31"/>
    <p:sldId id="331" r:id="rId32"/>
    <p:sldId id="332" r:id="rId33"/>
    <p:sldId id="333" r:id="rId34"/>
    <p:sldId id="319" r:id="rId13"/>
    <p:sldId id="320" r:id="rId14"/>
    <p:sldId id="321" r:id="rId15"/>
    <p:sldId id="322" r:id="rId16"/>
    <p:sldId id="324" r:id="rId17"/>
    <p:sldId id="259" r:id="rId1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58595B"/>
    <a:srgbClr val="8915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BC11E08-8C5A-4CB4-89CC-3E9AE0D7ADD2}" v="8" dt="2022-12-16T10:54:40.3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082" autoAdjust="0"/>
    <p:restoredTop sz="94660"/>
  </p:normalViewPr>
  <p:slideViewPr>
    <p:cSldViewPr snapToGrid="0" showGuides="1">
      <p:cViewPr varScale="1">
        <p:scale>
          <a:sx n="82" d="100"/>
          <a:sy n="82" d="100"/>
        </p:scale>
        <p:origin x="854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84" d="100"/>
          <a:sy n="84" d="100"/>
        </p:scale>
        <p:origin x="2436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microsoft.com/office/2015/10/relationships/revisionInfo" Target="revisionInfo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la Ferraro" userId="49ab112f-b347-4814-9bb1-f82a354b7d0b" providerId="ADAL" clId="{EBC11E08-8C5A-4CB4-89CC-3E9AE0D7ADD2}"/>
    <pc:docChg chg="undo custSel modSld modHandout">
      <pc:chgData name="Camilla Ferraro" userId="49ab112f-b347-4814-9bb1-f82a354b7d0b" providerId="ADAL" clId="{EBC11E08-8C5A-4CB4-89CC-3E9AE0D7ADD2}" dt="2022-12-16T10:54:42.245" v="7"/>
      <pc:docMkLst>
        <pc:docMk/>
      </pc:docMkLst>
      <pc:sldChg chg="addSp delSp modSp mod">
        <pc:chgData name="Camilla Ferraro" userId="49ab112f-b347-4814-9bb1-f82a354b7d0b" providerId="ADAL" clId="{EBC11E08-8C5A-4CB4-89CC-3E9AE0D7ADD2}" dt="2022-12-16T10:54:42.245" v="7"/>
        <pc:sldMkLst>
          <pc:docMk/>
          <pc:sldMk cId="2706215062" sldId="258"/>
        </pc:sldMkLst>
        <pc:spChg chg="add del mod">
          <ac:chgData name="Camilla Ferraro" userId="49ab112f-b347-4814-9bb1-f82a354b7d0b" providerId="ADAL" clId="{EBC11E08-8C5A-4CB4-89CC-3E9AE0D7ADD2}" dt="2022-12-16T10:53:46.150" v="4" actId="478"/>
          <ac:spMkLst>
            <pc:docMk/>
            <pc:sldMk cId="2706215062" sldId="258"/>
            <ac:spMk id="2" creationId="{0D44854F-2D30-FA80-801A-BA45E86EE13F}"/>
          </ac:spMkLst>
        </pc:spChg>
        <pc:spChg chg="add del mod">
          <ac:chgData name="Camilla Ferraro" userId="49ab112f-b347-4814-9bb1-f82a354b7d0b" providerId="ADAL" clId="{EBC11E08-8C5A-4CB4-89CC-3E9AE0D7ADD2}" dt="2022-12-16T10:54:42.245" v="7"/>
          <ac:spMkLst>
            <pc:docMk/>
            <pc:sldMk cId="2706215062" sldId="258"/>
            <ac:spMk id="3" creationId="{7A63DEEA-CAD2-2FBB-8257-7F5A24B5E1CD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E20D6645-5278-6CCA-6690-3F9DC37A1AD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F745A6D-A636-1206-EF24-EF19507B23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69FFCA-9520-4AE8-9003-3CDBD32AD1F7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1E56C97-25AF-7D09-0034-2BD9AC15E0A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E86A227-0930-4D9F-CB94-28D812FF86A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3F87A0-7828-4269-8341-9454712A2ACF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5514802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magine 11" descr="Immagine che contiene testo&#10;&#10;Descrizione generata automaticamente">
            <a:extLst>
              <a:ext uri="{FF2B5EF4-FFF2-40B4-BE49-F238E27FC236}">
                <a16:creationId xmlns:a16="http://schemas.microsoft.com/office/drawing/2014/main" id="{578AA91A-73FD-EB7E-72E2-50689112A9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4718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7CACEA95-C9ED-FF5A-FD6D-F622E228A8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85" r="539" b="13613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9" name="Rettangolo 8">
            <a:extLst>
              <a:ext uri="{FF2B5EF4-FFF2-40B4-BE49-F238E27FC236}">
                <a16:creationId xmlns:a16="http://schemas.microsoft.com/office/drawing/2014/main" id="{763254F8-7CB6-731E-7C35-AE742138A1FF}"/>
              </a:ext>
            </a:extLst>
          </p:cNvPr>
          <p:cNvSpPr/>
          <p:nvPr userDrawn="1"/>
        </p:nvSpPr>
        <p:spPr>
          <a:xfrm>
            <a:off x="1009651" y="1643062"/>
            <a:ext cx="6772274" cy="38766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EF273085-2B7A-8BE3-4BA0-FD5B42835D9C}"/>
              </a:ext>
            </a:extLst>
          </p:cNvPr>
          <p:cNvSpPr/>
          <p:nvPr userDrawn="1"/>
        </p:nvSpPr>
        <p:spPr>
          <a:xfrm>
            <a:off x="1181101" y="1490662"/>
            <a:ext cx="6772274" cy="3876675"/>
          </a:xfrm>
          <a:prstGeom prst="rect">
            <a:avLst/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609EBEF7-0E8A-5937-A3C1-4B8DFD3E390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1" y="-542925"/>
            <a:ext cx="2734769" cy="2733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942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>
            <a:extLst>
              <a:ext uri="{FF2B5EF4-FFF2-40B4-BE49-F238E27FC236}">
                <a16:creationId xmlns:a16="http://schemas.microsoft.com/office/drawing/2014/main" id="{072EB754-DA8F-066B-7509-4FB0063856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85" r="539" b="13613"/>
          <a:stretch/>
        </p:blipFill>
        <p:spPr>
          <a:xfrm flipH="1">
            <a:off x="-1" y="-1"/>
            <a:ext cx="12192000" cy="6858001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B57F5EFD-4F86-A020-66EB-FB05367E0EA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8579" y="-94890"/>
            <a:ext cx="4470117" cy="4468329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AC606087-189D-BA23-9783-4CFDADE290CE}"/>
              </a:ext>
            </a:extLst>
          </p:cNvPr>
          <p:cNvSpPr txBox="1"/>
          <p:nvPr userDrawn="1"/>
        </p:nvSpPr>
        <p:spPr>
          <a:xfrm>
            <a:off x="5033513" y="3264837"/>
            <a:ext cx="212497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000" i="1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Grazie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3B2DC7D-FFE9-582B-3C4A-382FBEB95FC2}"/>
              </a:ext>
            </a:extLst>
          </p:cNvPr>
          <p:cNvSpPr txBox="1"/>
          <p:nvPr userDrawn="1"/>
        </p:nvSpPr>
        <p:spPr>
          <a:xfrm>
            <a:off x="100939" y="6338811"/>
            <a:ext cx="12779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www.ikn.it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46457F3-6F7E-39EE-7B4F-CDEE6CC8F635}"/>
              </a:ext>
            </a:extLst>
          </p:cNvPr>
          <p:cNvSpPr txBox="1"/>
          <p:nvPr userDrawn="1"/>
        </p:nvSpPr>
        <p:spPr>
          <a:xfrm>
            <a:off x="10833986" y="6290564"/>
            <a:ext cx="12570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@iKN </a:t>
            </a:r>
            <a:r>
              <a:rPr lang="it-IT" dirty="0" err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Italy</a:t>
            </a:r>
            <a:endParaRPr lang="it-IT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3D300300-1264-307A-EDAC-6394B4BCEA65}"/>
              </a:ext>
            </a:extLst>
          </p:cNvPr>
          <p:cNvSpPr/>
          <p:nvPr userDrawn="1"/>
        </p:nvSpPr>
        <p:spPr>
          <a:xfrm>
            <a:off x="10319751" y="6242316"/>
            <a:ext cx="465827" cy="465827"/>
          </a:xfrm>
          <a:prstGeom prst="roundRect">
            <a:avLst/>
          </a:prstGeom>
          <a:solidFill>
            <a:srgbClr val="000000">
              <a:alpha val="47059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3" name="Immagine 12" descr="Immagine che contiene testo, silhouette, grafica vettoriale, clipart&#10;&#10;Descrizione generata automaticamente">
            <a:extLst>
              <a:ext uri="{FF2B5EF4-FFF2-40B4-BE49-F238E27FC236}">
                <a16:creationId xmlns:a16="http://schemas.microsoft.com/office/drawing/2014/main" id="{E091475D-E198-B72B-6E8C-DB38AAC256B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5105" y="6279628"/>
            <a:ext cx="355121" cy="355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8029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9DEDEA0-EC27-68C4-E0DF-253CDFCF3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EECFA6F-2542-468F-CFC9-905E307BAF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E7E86FF-A51F-0B1B-A2C5-EB248966AD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BC7B65C-D71A-D862-EB3A-45C07F864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CB994AF-DB97-61E4-2CF7-59EFD5A32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E62BDF8-B2CE-3D7F-A034-65D788A5D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608877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C1922A-B41B-02A5-8FAA-1500E77C1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A4AAEF8-2E0F-43BD-7424-8CFD2751CB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416FB50-2887-B06A-D8B1-FE271CA71A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CA8AE9E0-380A-46BE-FB0A-B57F7E69CB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F5C628A8-A886-B280-50B3-3CEA439E49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A1EEF482-501D-4623-E9F0-7F421DBEA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7655562-227D-164B-89EC-6947891F5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A8485B4D-ACDE-A094-E919-5A285F3AA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207506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A0F34C3-CA2D-4ABE-B69B-A256A8DE4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ECD1762-BE79-81B6-9E19-36267C7ED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85ADF9BD-8F56-8DBD-6999-19EFC09CE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D1D91912-F444-691F-6BD2-D1EBFA510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70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2EE78A7B-F61E-8AE9-36A1-8441136C9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ABD61FF2-D694-7341-A38D-F1DFA5AA1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6DAB866-68FC-8209-C510-4EBC85EB7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975358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76AB11-A65A-8E3C-095B-50E9EC63D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D2BB72B-BCCF-4626-8070-F658EEE551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3199659-6BF8-D2D5-F140-6B50825318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E73A2DE-C435-C5F5-9D6D-64B81524C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4BB3278-A89A-9228-E659-099E60653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BDD1D92-1C7D-6C09-84EF-974C09F18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47362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C2805F-14FE-67E0-5642-C54D09D09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1D653A34-1E9F-F18B-2B34-8A831CE344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D8601A0-C3AA-3071-5CC2-E9812FC659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311CC93-8B0F-6E5E-13B9-41EC1D168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21CEEEE-657C-FA25-7D72-BF9D9C3BE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DA02E15-BE49-BEFC-E70B-F6108C0BD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09767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DC0B3E8-2F74-B124-36E2-5AFEEC835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1CD03CF7-E8EC-A6D9-E7F2-0D87B4B7C7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03DD205-D8AA-3939-8E0E-F85933315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62FD6A0-935B-CDFF-26B0-F1B04B894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19602DB-69F4-97F0-D07E-EA370A442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6196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89300F2B-70E7-9150-FD03-5A4615AFD4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178EB15F-ACBC-61D5-338E-E8695846D8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3694C23-11E8-894A-76B1-6DB61F5AA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16D2EF5-4859-BBA1-4B0A-2A509C4EA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419638D-7810-F1EE-87DD-A8529C7AD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057239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887172-F901-2B03-7658-8CD5046979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1E62786E-4962-473A-7F20-810FB32B27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4351459-77DD-967B-622B-612228125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5F07B1A-47B5-F77E-BAD1-7EAE1C8FF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BFD1F39-A1A0-45CE-6168-420459E39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213491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2CD6F3E-942F-3DB4-0C66-7BE0BE6C5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4CC0FDF-96FC-A7D1-5442-9D8BBEEB1F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CF2FAAC-CD56-4D38-1B97-1B52FAE08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0E89904-4FCF-C1A0-BD17-A2CB314F6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2DF2EC6-717D-11B0-B56A-D44B3B9FC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899001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CC5AEC-DD7B-DED3-F44D-49F6ACAE7A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C6498FA-B45E-6F70-19A5-D8BFBA0199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4EB9E9-FB2D-C8C1-6D4D-213638AD5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C63C8DA-C917-B909-B85C-19859D381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AE2DCF4-6492-E9C4-EACA-22D454D4C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626683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527AAAA-3375-3386-F0A7-AFBB7658B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16C8E28-13CB-D761-0093-6921570F4D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235D987-4945-2B8E-4C89-6C0D133939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5A3B09B-AE27-86DB-3E0E-0B27B3881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324CE0D-3631-C445-0B9F-F1D5BA489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2D53B01-51F1-A097-8619-6DC99A63E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429547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F3696A-8A5D-EA2D-C247-D8D3DF396E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05348E3-2EEE-74AB-9497-A8AC04E190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97068D7-427A-E453-2097-7226DACAF8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3A630F2C-E9A7-3352-E071-D0BDB82852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2B79293D-D7E4-3706-8CD6-A4E9E1892B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346C68E-1316-8F7C-981C-478739912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EF1F11E6-59F3-61EA-5FEE-6BCA915ED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051713AD-ED88-C23E-FC45-FBEA42394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147177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0635385-F2BC-41E6-3D56-D4B2373C4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68C088C-68A7-838D-DFAF-DF5A47CDB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F63E6244-775D-0AC0-B323-F7C15FB64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BD3BA853-1EE9-B5FA-E3A6-651D39E0A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89035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0012071-BC36-E9E8-F215-7ACE26DEA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E21853A3-68BB-34BA-4E1F-2CC483385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08705B8-E8DC-82F2-CC57-6883D5421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723216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2B7344F-9D5E-2704-BFDB-B60716BEE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500142E-4A2D-2EB0-1121-22F1E6AE34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0226A41-9563-EA1E-BB04-E217D5208F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E4B283F-B340-AB16-F9F5-4BF98AD46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020A046-EE2E-2037-2246-D123D743D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7EF1CAC-FC82-592D-492B-4494DD0AD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413526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2084EB5-5898-ECDA-2862-06BDFB294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9D4A729C-F7FE-10E5-8587-54F27408EB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1E6DFFBC-1E3C-4978-BE7B-9ECC51D3E1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9806538-72E8-0804-A967-A59F25843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3FE2C93-1517-3A5E-B042-1DE7AB5DE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DF86E4D-0DC1-13D4-0B4A-DD7C0DE69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463250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BA7C874-1ADF-8C08-37F9-4A5F593A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BC674C34-D5F1-9A07-F0C1-71FE56B3E6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908EB8C-0871-018A-BB88-338A37FAC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C6549F-6B59-B047-735B-99E7FF440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E408E06-CB22-2110-32AF-EDCF6C283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6191338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3F372DEC-AD10-E044-EC1C-5FCFFDE8A3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CE3BBD9-6C53-C013-C801-EE0DF0487A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876223E-DFC6-AE2D-C40E-C7873FBBB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E1D9353-EB8C-5D26-7AB2-196D57510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3BA5D8D-CB2D-E4AB-81E3-21546F0A0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758733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24A5F750-5EFA-7BBD-BF4F-5BA348FE2E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4BCC3A5-93CC-7BF6-A512-C524808B00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E849335-A1A1-29AC-21F0-8AE4B5D4E5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5A94F30-A720-6709-21FD-5BEA44BC21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E2E2E1F-4D7A-14E4-FE78-BE0943AD10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84005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BDBADC55-4440-E779-FE63-A84C7BA73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06B7A42-368B-FD88-63AC-32EDEE85B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67E7C50-966F-876A-886C-89E8FD9776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0B74B53-3869-C23D-C6E9-DC4E10D276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5527140-8739-4F9C-A948-D24F349FF2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53663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jpeg"/><Relationship Id="rId3" Type="http://schemas.openxmlformats.org/officeDocument/2006/relationships/image" Target="../media/image11.jpeg"/><Relationship Id="rId4" Type="http://schemas.openxmlformats.org/officeDocument/2006/relationships/image" Target="../media/image12.jpeg"/><Relationship Id="rId5" Type="http://schemas.openxmlformats.org/officeDocument/2006/relationships/image" Target="../media/image13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D890DC9C-CB45-9424-94F5-61BF2B3A9A9A}"/>
              </a:ext>
            </a:extLst>
          </p:cNvPr>
          <p:cNvSpPr txBox="1"/>
          <p:nvPr/>
        </p:nvSpPr>
        <p:spPr>
          <a:xfrm>
            <a:off x="1140821" y="1933303"/>
            <a:ext cx="62527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PYTHON BASE: STRUMENTO DI DATA SCIENCE PER IL MERCATO ENERGETICO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A686DC91-CD5B-5810-8341-13ABB89BF745}"/>
              </a:ext>
            </a:extLst>
          </p:cNvPr>
          <p:cNvSpPr txBox="1"/>
          <p:nvPr/>
        </p:nvSpPr>
        <p:spPr>
          <a:xfrm>
            <a:off x="1140820" y="2865119"/>
            <a:ext cx="62527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23, 30 Gennaio, 2026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C46A3590-C6EF-D1F7-EF3A-B2A02C276022}"/>
              </a:ext>
            </a:extLst>
          </p:cNvPr>
          <p:cNvSpPr txBox="1"/>
          <p:nvPr/>
        </p:nvSpPr>
        <p:spPr>
          <a:xfrm>
            <a:off x="1140821" y="3992881"/>
            <a:ext cx="66875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Docente: </a:t>
            </a:r>
          </a:p>
          <a:p>
            <a:r>
              <a:rPr lang="it-IT" sz="24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Andrea Corvaglia</a:t>
            </a:r>
            <a:endParaRPr lang="it-IT" sz="2400" b="1" i="1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9263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4854F-2D30-FA80-801A-BA45E86EE13F}"/>
              </a:ext>
            </a:extLst>
          </p:cNvPr>
          <p:cNvSpPr txBox="1"/>
          <p:nvPr/>
        </p:nvSpPr>
        <p:spPr>
          <a:xfrm>
            <a:off x="2682240" y="120178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5A6E3-2DAE-D404-1AB9-B6309BF05F6A}"/>
              </a:ext>
            </a:extLst>
          </p:cNvPr>
          <p:cNvSpPr txBox="1"/>
          <p:nvPr/>
        </p:nvSpPr>
        <p:spPr>
          <a:xfrm>
            <a:off x="606829" y="426315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/>
            </a:lvl1pPr>
          </a:lstStyle>
          <a:p>
            <a:pPr algn="l"/>
            <a:r>
              <a:rPr lang="en-IT">
                <a:latin typeface="Calibri" panose="020F0502020204030204" pitchFamily="34" charset="0"/>
                <a:cs typeface="Calibri" panose="020F0502020204030204" pitchFamily="34" charset="0"/>
              </a:rPr>
              <a:t>PROGRAMMA DEL CORSO</a:t>
            </a:r>
            <a:r>
              <a:rPr lang="it-IT" dirty="0">
                <a:latin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en-IT">
                <a:latin typeface="Calibri" panose="020F0502020204030204" pitchFamily="34" charset="0"/>
                <a:cs typeface="Calibri" panose="020F0502020204030204" pitchFamily="34" charset="0"/>
              </a:rPr>
              <a:t>Giorno 1</a:t>
            </a:r>
            <a:r>
              <a:rPr lang="it-IT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en-IT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CasellaDiTesto 1">
            <a:extLst>
              <a:ext uri="{FF2B5EF4-FFF2-40B4-BE49-F238E27FC236}">
                <a16:creationId xmlns:a16="http://schemas.microsoft.com/office/drawing/2014/main" id="{35D6CF70-56AF-A22D-3A00-8DCF34467A4A}"/>
              </a:ext>
            </a:extLst>
          </p:cNvPr>
          <p:cNvSpPr txBox="1"/>
          <p:nvPr/>
        </p:nvSpPr>
        <p:spPr>
          <a:xfrm>
            <a:off x="2682240" y="24702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694ABEB5-4007-7951-0296-A03837E8A214}"/>
              </a:ext>
            </a:extLst>
          </p:cNvPr>
          <p:cNvSpPr txBox="1"/>
          <p:nvPr/>
        </p:nvSpPr>
        <p:spPr>
          <a:xfrm>
            <a:off x="606829" y="1419107"/>
            <a:ext cx="1136349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Blocco 1: Setup, Python e sintassi di base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Ambiente di lavoro: VS Code, uv e notebook; cos'è Python, cosa sono le librerie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Sintassi di base: variabili, numeri, stringhe, liste, tuple, dizionari, set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Codice leggibile: commenti, docstring, PEP-8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Blocco 2: Controllo del flusso, funzioni e primi dati in pandas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Condizioni, cicli e funzioni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Oggetti ed errori: attributi, metodi, leggere un traceback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pandas: Series e DataFrame; dati da CSV, Excel, database SQL e API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Compito a casa tra le due giornate</a:t>
            </a: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: 30-45 minuti, con soluzioni</a:t>
            </a:r>
          </a:p>
        </p:txBody>
      </p:sp>
    </p:spTree>
    <p:extLst>
      <p:ext uri="{BB962C8B-B14F-4D97-AF65-F5344CB8AC3E}">
        <p14:creationId xmlns:p14="http://schemas.microsoft.com/office/powerpoint/2010/main" val="45302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4854F-2D30-FA80-801A-BA45E86EE13F}"/>
              </a:ext>
            </a:extLst>
          </p:cNvPr>
          <p:cNvSpPr txBox="1"/>
          <p:nvPr/>
        </p:nvSpPr>
        <p:spPr>
          <a:xfrm>
            <a:off x="2682240" y="105269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5A6E3-2DAE-D404-1AB9-B6309BF05F6A}"/>
              </a:ext>
            </a:extLst>
          </p:cNvPr>
          <p:cNvSpPr txBox="1"/>
          <p:nvPr/>
        </p:nvSpPr>
        <p:spPr>
          <a:xfrm>
            <a:off x="606829" y="426315"/>
            <a:ext cx="914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en-IT"/>
              <a:t>PROGRAMMA DEL CORSO</a:t>
            </a:r>
            <a:r>
              <a:rPr lang="it-IT" dirty="0"/>
              <a:t> (Giorno </a:t>
            </a:r>
            <a:r>
              <a:rPr lang="it-IT"/>
              <a:t>2)</a:t>
            </a:r>
            <a:endParaRPr lang="en-IT" dirty="0"/>
          </a:p>
        </p:txBody>
      </p:sp>
      <p:sp>
        <p:nvSpPr>
          <p:cNvPr id="6" name="CasellaDiTesto 1">
            <a:extLst>
              <a:ext uri="{FF2B5EF4-FFF2-40B4-BE49-F238E27FC236}">
                <a16:creationId xmlns:a16="http://schemas.microsoft.com/office/drawing/2014/main" id="{51652B5A-8054-7C9C-4AAB-FD2822BDA600}"/>
              </a:ext>
            </a:extLst>
          </p:cNvPr>
          <p:cNvSpPr txBox="1"/>
          <p:nvPr/>
        </p:nvSpPr>
        <p:spPr>
          <a:xfrm>
            <a:off x="2682240" y="327991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F80BE9D2-A54B-6834-7CBB-690FDDAC4B94}"/>
              </a:ext>
            </a:extLst>
          </p:cNvPr>
          <p:cNvSpPr txBox="1"/>
          <p:nvPr/>
        </p:nvSpPr>
        <p:spPr>
          <a:xfrm>
            <a:off x="606829" y="1422030"/>
            <a:ext cx="11280371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Blocco 3: Analisi dei dati con pandas e visualizzazione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Operazioni sui DataFrame: filtri, valori mancanti, groupby, merge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Esplorare con Data Wrangler e leggere il codice pandas che genera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Dati temporali: conversione, frequenza, fuso orario e ora legale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Grafici interattivi con Plotly: linee, istogrammi, scatter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Blocco 4: Agenti per il coding e capstone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Copilot in VS Code: token, finestra di contesto, modelli, plan e agent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Capstone: il carico del Nord e la temperatura, dai file Terna al grafico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Soluzioni condivise a fine giornata</a:t>
            </a:r>
          </a:p>
        </p:txBody>
      </p:sp>
    </p:spTree>
    <p:extLst>
      <p:ext uri="{BB962C8B-B14F-4D97-AF65-F5344CB8AC3E}">
        <p14:creationId xmlns:p14="http://schemas.microsoft.com/office/powerpoint/2010/main" val="24030330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4854F-2D30-FA80-801A-BA45E86EE13F}"/>
              </a:ext>
            </a:extLst>
          </p:cNvPr>
          <p:cNvSpPr txBox="1"/>
          <p:nvPr/>
        </p:nvSpPr>
        <p:spPr>
          <a:xfrm>
            <a:off x="2682240" y="120178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5A6E3-2DAE-D404-1AB9-B6309BF05F6A}"/>
              </a:ext>
            </a:extLst>
          </p:cNvPr>
          <p:cNvSpPr txBox="1"/>
          <p:nvPr/>
        </p:nvSpPr>
        <p:spPr>
          <a:xfrm>
            <a:off x="606829" y="426315"/>
            <a:ext cx="914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it-IT" dirty="0"/>
              <a:t>CORSO INTERATTIVO E PRATICO</a:t>
            </a:r>
            <a:endParaRPr lang="en-IT" dirty="0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C3D82EE8-F483-98A2-CB76-A9912C51200D}"/>
              </a:ext>
            </a:extLst>
          </p:cNvPr>
          <p:cNvSpPr txBox="1"/>
          <p:nvPr/>
        </p:nvSpPr>
        <p:spPr>
          <a:xfrm>
            <a:off x="548641" y="1201783"/>
            <a:ext cx="1145783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400" b="1" dirty="0">
                <a:latin typeface="Calibri" panose="020F0502020204030204" pitchFamily="34" charset="0"/>
                <a:cs typeface="Calibri" panose="020F0502020204030204" pitchFamily="34" charset="0"/>
              </a:rPr>
              <a:t>Ambiente di sviluppo</a:t>
            </a:r>
            <a:r>
              <a:rPr lang="it-IT" sz="2400" dirty="0">
                <a:latin typeface="Calibri" panose="020F0502020204030204" pitchFamily="34" charset="0"/>
                <a:cs typeface="Calibri" panose="020F0502020204030204" pitchFamily="34" charset="0"/>
              </a:rPr>
              <a:t>: VS Code e uv, un ambiente uguale per tutti, pronto con un comando.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400" b="1" dirty="0">
                <a:latin typeface="Calibri" panose="020F0502020204030204" pitchFamily="34" charset="0"/>
                <a:cs typeface="Calibri" panose="020F0502020204030204" pitchFamily="34" charset="0"/>
              </a:rPr>
              <a:t>Materiale didattico</a:t>
            </a:r>
            <a:r>
              <a:rPr lang="it-IT" sz="2400" dirty="0">
                <a:latin typeface="Calibri" panose="020F0502020204030204" pitchFamily="34" charset="0"/>
                <a:cs typeface="Calibri" panose="020F0502020204030204" pitchFamily="34" charset="0"/>
              </a:rPr>
              <a:t>: Poche slide introduttive e notebook interattivi da modificare e testare.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400" b="1" dirty="0">
                <a:latin typeface="Calibri" panose="020F0502020204030204" pitchFamily="34" charset="0"/>
                <a:cs typeface="Calibri" panose="020F0502020204030204" pitchFamily="34" charset="0"/>
              </a:rPr>
              <a:t>Apprendimento attivo</a:t>
            </a:r>
            <a:r>
              <a:rPr lang="it-IT" sz="2400" dirty="0">
                <a:latin typeface="Calibri" panose="020F0502020204030204" pitchFamily="34" charset="0"/>
                <a:cs typeface="Calibri" panose="020F0502020204030204" pitchFamily="34" charset="0"/>
              </a:rPr>
              <a:t>: Codice pratico su ogni argomento, con esercizi integrati nei notebook.</a:t>
            </a:r>
          </a:p>
          <a:p>
            <a:endParaRPr lang="it-IT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400" b="1" dirty="0">
                <a:latin typeface="Calibri" panose="020F0502020204030204" pitchFamily="34" charset="0"/>
                <a:cs typeface="Calibri" panose="020F0502020204030204" pitchFamily="34" charset="0"/>
              </a:rPr>
              <a:t>Progetto finale</a:t>
            </a:r>
            <a:r>
              <a:rPr lang="it-IT" sz="2400" dirty="0">
                <a:latin typeface="Calibri" panose="020F0502020204030204" pitchFamily="34" charset="0"/>
                <a:cs typeface="Calibri" panose="020F0502020204030204" pitchFamily="34" charset="0"/>
              </a:rPr>
              <a:t>: Caso d'uso pratico l'ultimo giorno.</a:t>
            </a:r>
          </a:p>
        </p:txBody>
      </p:sp>
    </p:spTree>
    <p:extLst>
      <p:ext uri="{BB962C8B-B14F-4D97-AF65-F5344CB8AC3E}">
        <p14:creationId xmlns:p14="http://schemas.microsoft.com/office/powerpoint/2010/main" val="2037669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8F91116A-DD42-989F-0200-2BEF52A3FAB0}"/>
              </a:ext>
            </a:extLst>
          </p:cNvPr>
          <p:cNvSpPr txBox="1"/>
          <p:nvPr/>
        </p:nvSpPr>
        <p:spPr>
          <a:xfrm>
            <a:off x="606829" y="426315"/>
            <a:ext cx="7132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it-IT" dirty="0"/>
              <a:t>PERCHÉ PYTHON: IDEALE PER IMPARARE</a:t>
            </a:r>
            <a:endParaRPr lang="en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43EBA63-B0C9-4C16-E5EF-70969C433C38}"/>
              </a:ext>
            </a:extLst>
          </p:cNvPr>
          <p:cNvSpPr txBox="1"/>
          <p:nvPr/>
        </p:nvSpPr>
        <p:spPr>
          <a:xfrm>
            <a:off x="606829" y="1335725"/>
            <a:ext cx="9341741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1. SINTASSI SEMPLICE</a:t>
            </a:r>
          </a:p>
          <a:p>
            <a:pPr algn="l"/>
            <a:r>
              <a:rPr lang="it-IT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Codice facile da leggere e imparare, perfetto per chi inizia.</a:t>
            </a:r>
          </a:p>
          <a:p>
            <a:pPr algn="l"/>
            <a:endParaRPr lang="it-IT" sz="24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r>
              <a:rPr lang="it-IT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2. NIENTE CODICE SUPERFLUO</a:t>
            </a:r>
          </a:p>
          <a:p>
            <a:pPr algn="l"/>
            <a:r>
              <a:rPr lang="it-IT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Python evita il codice ripetitivo, mantenendo tutto chiaro.</a:t>
            </a:r>
          </a:p>
          <a:p>
            <a:pPr algn="l"/>
            <a:endParaRPr lang="it-IT" sz="24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r>
              <a:rPr lang="it-IT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3. VERSATILE</a:t>
            </a:r>
          </a:p>
          <a:p>
            <a:pPr algn="l"/>
            <a:r>
              <a:rPr lang="it-IT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Supporta più stili: </a:t>
            </a:r>
            <a:r>
              <a:rPr lang="it-IT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imperativo</a:t>
            </a:r>
            <a:r>
              <a:rPr lang="it-IT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, </a:t>
            </a:r>
            <a:r>
              <a:rPr lang="it-IT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orientato agli oggetti</a:t>
            </a:r>
            <a:r>
              <a:rPr lang="it-IT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, </a:t>
            </a:r>
            <a:r>
              <a:rPr lang="it-IT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funzionale</a:t>
            </a:r>
            <a:r>
              <a:rPr lang="it-IT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l"/>
            <a:r>
              <a:rPr lang="it-IT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Usato in molti campi, da </a:t>
            </a:r>
            <a:r>
              <a:rPr lang="it-IT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Data Science</a:t>
            </a:r>
            <a:r>
              <a:rPr lang="it-IT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 allo sviluppo web.</a:t>
            </a:r>
          </a:p>
        </p:txBody>
      </p:sp>
      <p:pic>
        <p:nvPicPr>
          <p:cNvPr id="6" name="Picture 2" descr="Python Programming Fundamentals - Learners Galaxy">
            <a:extLst>
              <a:ext uri="{FF2B5EF4-FFF2-40B4-BE49-F238E27FC236}">
                <a16:creationId xmlns:a16="http://schemas.microsoft.com/office/drawing/2014/main" id="{2D0D7024-8124-4A28-933B-5D517AC7B6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8586" y="480072"/>
            <a:ext cx="4557890" cy="2563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45853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722CEC-4EC5-32E1-87A6-A5CB6E3713B1}"/>
              </a:ext>
            </a:extLst>
          </p:cNvPr>
          <p:cNvSpPr txBox="1"/>
          <p:nvPr/>
        </p:nvSpPr>
        <p:spPr>
          <a:xfrm>
            <a:off x="606828" y="426315"/>
            <a:ext cx="94762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b="1" dirty="0">
                <a:latin typeface="Calibri" panose="020F0502020204030204" pitchFamily="34" charset="0"/>
                <a:cs typeface="Calibri" panose="020F0502020204030204" pitchFamily="34" charset="0"/>
              </a:rPr>
              <a:t>PERCHÉ PYTHON: LA FORZA DELLA COMMUNITY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5583F81E-0E72-1D3A-595D-3856002E7D05}"/>
              </a:ext>
            </a:extLst>
          </p:cNvPr>
          <p:cNvSpPr txBox="1"/>
          <p:nvPr/>
        </p:nvSpPr>
        <p:spPr>
          <a:xfrm>
            <a:off x="606827" y="1266216"/>
            <a:ext cx="9624567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Open Source e Librerie</a:t>
            </a:r>
          </a:p>
          <a:p>
            <a:pPr algn="l"/>
            <a:endParaRPr lang="it-IT" sz="2400" b="1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Librerie di alta qualità</a:t>
            </a: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 disponibili gratuitamente grazie alla community open source.</a:t>
            </a:r>
          </a:p>
          <a:p>
            <a:pPr algn="l"/>
            <a:endParaRPr lang="it-IT" sz="20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it-IT" sz="2400" b="1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Comunità Vasta e Attiva</a:t>
            </a:r>
          </a:p>
          <a:p>
            <a:endParaRPr lang="it-IT" sz="2400" b="1" dirty="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Sviluppatori impegnati a </a:t>
            </a:r>
            <a:r>
              <a:rPr lang="it-IT" sz="20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migliorare</a:t>
            </a: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 e </a:t>
            </a:r>
            <a:r>
              <a:rPr lang="it-IT" sz="20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risolvere problemi</a:t>
            </a: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Librerie per ogni ambito, con focus sulla </a:t>
            </a:r>
            <a:r>
              <a:rPr lang="it-IT" sz="20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Data Science</a:t>
            </a: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l"/>
            <a:endParaRPr lang="it-IT" sz="20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it-IT" sz="2400" b="1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Python per Data Science e Ricerca</a:t>
            </a:r>
          </a:p>
          <a:p>
            <a:endParaRPr lang="it-IT" sz="2400" b="1" dirty="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Strumenti avanzati per </a:t>
            </a:r>
            <a:r>
              <a:rPr lang="it-IT" sz="20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visualizzazione dati</a:t>
            </a: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, </a:t>
            </a:r>
            <a:r>
              <a:rPr lang="it-IT" sz="20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machine learning</a:t>
            </a: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, e </a:t>
            </a:r>
            <a:r>
              <a:rPr lang="it-IT" sz="20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deep learning</a:t>
            </a: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Ampiamente usato nella </a:t>
            </a:r>
            <a:r>
              <a:rPr lang="it-IT" sz="20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ricerca</a:t>
            </a: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, con tecnologie come </a:t>
            </a:r>
            <a:r>
              <a:rPr lang="it-IT" sz="20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Computer Vision</a:t>
            </a: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 e </a:t>
            </a:r>
            <a:r>
              <a:rPr lang="it-IT" sz="20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NLP</a:t>
            </a: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pic>
        <p:nvPicPr>
          <p:cNvPr id="1028" name="Picture 4" descr="Key Considerations for Selecting Open Source Software | TO THE NEW Blog">
            <a:extLst>
              <a:ext uri="{FF2B5EF4-FFF2-40B4-BE49-F238E27FC236}">
                <a16:creationId xmlns:a16="http://schemas.microsoft.com/office/drawing/2014/main" id="{97D4FAC5-D285-0B48-018F-0CBF441C3A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0223" y="2427621"/>
            <a:ext cx="4064000" cy="2139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Best Python Libraries for Machine Learning and Deep Learning | by Claire D.  Costa | Towards Data Science">
            <a:extLst>
              <a:ext uri="{FF2B5EF4-FFF2-40B4-BE49-F238E27FC236}">
                <a16:creationId xmlns:a16="http://schemas.microsoft.com/office/drawing/2014/main" id="{3ED32A2E-C1D0-024A-1A58-5E1FFBEC61C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17" t="12080" r="14098"/>
          <a:stretch/>
        </p:blipFill>
        <p:spPr bwMode="auto">
          <a:xfrm>
            <a:off x="9835640" y="4153468"/>
            <a:ext cx="2315553" cy="1881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B1333D60-857C-647E-092E-E9FDC86149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9200" y="162113"/>
            <a:ext cx="2426146" cy="2426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27543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722CEC-4EC5-32E1-87A6-A5CB6E3713B1}"/>
              </a:ext>
            </a:extLst>
          </p:cNvPr>
          <p:cNvSpPr txBox="1"/>
          <p:nvPr/>
        </p:nvSpPr>
        <p:spPr>
          <a:xfrm>
            <a:off x="606828" y="426315"/>
            <a:ext cx="79031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IT" dirty="0"/>
              <a:t>INTRODUZIONE</a:t>
            </a:r>
            <a:r>
              <a:rPr lang="it-IT" dirty="0"/>
              <a:t> AGLI OGGETTI IN PYTHON</a:t>
            </a:r>
            <a:endParaRPr lang="en-IT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C2BE47-33EF-AE3E-81AF-B8DE77F04C90}"/>
              </a:ext>
            </a:extLst>
          </p:cNvPr>
          <p:cNvSpPr txBox="1"/>
          <p:nvPr/>
        </p:nvSpPr>
        <p:spPr>
          <a:xfrm>
            <a:off x="515250" y="953774"/>
            <a:ext cx="111614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La </a:t>
            </a:r>
            <a:r>
              <a:rPr lang="en-GB" b="1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programmazione</a:t>
            </a:r>
            <a:r>
              <a:rPr lang="en-GB" b="1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b="1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orientata</a:t>
            </a:r>
            <a:r>
              <a:rPr lang="en-GB" b="1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b="1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agli</a:t>
            </a:r>
            <a:r>
              <a:rPr lang="en-GB" b="1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b="1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oggetti</a:t>
            </a:r>
            <a:r>
              <a:rPr lang="en-GB" b="1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(POO)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è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un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paradigma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di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programmazione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organizza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il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codice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intorno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agli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oggetti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In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pyhton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una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b="1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classe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definisce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la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struttura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e il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comportamento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di un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oggetto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Mentre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nel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momento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in cui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viene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creato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con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dei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dati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reali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prende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il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nome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di </a:t>
            </a:r>
            <a:r>
              <a:rPr lang="en-GB" b="1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istanza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della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classe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Ad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una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classe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sono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associate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delle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variabili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chiamate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b="1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attributi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della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classe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e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delle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funzioni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prendono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il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nome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di </a:t>
            </a:r>
            <a:r>
              <a:rPr lang="en-GB" b="1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metodi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della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 err="1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classe</a:t>
            </a:r>
            <a:r>
              <a:rPr lang="en-GB" dirty="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</a:p>
          <a:p>
            <a:endParaRPr lang="en-GB" dirty="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IT" dirty="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Picture 7" descr="A picture containing black, darkness&#10;&#10;Description automatically generated">
            <a:extLst>
              <a:ext uri="{FF2B5EF4-FFF2-40B4-BE49-F238E27FC236}">
                <a16:creationId xmlns:a16="http://schemas.microsoft.com/office/drawing/2014/main" id="{FA6A9278-65FD-FF61-9052-C15BED8D4E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8720" y="3429154"/>
            <a:ext cx="1298448" cy="129844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09C37B-7A43-15F2-595F-AE1856451FF0}"/>
              </a:ext>
            </a:extLst>
          </p:cNvPr>
          <p:cNvSpPr txBox="1"/>
          <p:nvPr/>
        </p:nvSpPr>
        <p:spPr>
          <a:xfrm>
            <a:off x="2025141" y="2945421"/>
            <a:ext cx="10703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>
                <a:solidFill>
                  <a:srgbClr val="000000"/>
                </a:solidFill>
                <a:latin typeface="-webkit-standard"/>
              </a:rPr>
              <a:t>studente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91CE07-9D63-6155-8D79-7BA96D7C761E}"/>
              </a:ext>
            </a:extLst>
          </p:cNvPr>
          <p:cNvSpPr/>
          <p:nvPr/>
        </p:nvSpPr>
        <p:spPr>
          <a:xfrm>
            <a:off x="2487168" y="3534310"/>
            <a:ext cx="1084933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Nome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C7E92A-B695-2DA9-A58D-C3F938DF1C43}"/>
              </a:ext>
            </a:extLst>
          </p:cNvPr>
          <p:cNvSpPr/>
          <p:nvPr/>
        </p:nvSpPr>
        <p:spPr>
          <a:xfrm>
            <a:off x="2493400" y="3813048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Cognome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05742-42A5-A83C-37FD-4F11A7C22DFF}"/>
              </a:ext>
            </a:extLst>
          </p:cNvPr>
          <p:cNvSpPr/>
          <p:nvPr/>
        </p:nvSpPr>
        <p:spPr>
          <a:xfrm>
            <a:off x="2499513" y="4111646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Facoltà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686EFC-B093-9CF4-C7C7-894372E31822}"/>
              </a:ext>
            </a:extLst>
          </p:cNvPr>
          <p:cNvSpPr/>
          <p:nvPr/>
        </p:nvSpPr>
        <p:spPr>
          <a:xfrm>
            <a:off x="2487168" y="4410244"/>
            <a:ext cx="1091046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Voti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ACB3115-F564-AB51-2471-1BF1909094FB}"/>
              </a:ext>
            </a:extLst>
          </p:cNvPr>
          <p:cNvSpPr/>
          <p:nvPr/>
        </p:nvSpPr>
        <p:spPr>
          <a:xfrm>
            <a:off x="1188720" y="3276814"/>
            <a:ext cx="2743200" cy="156336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DD87E95-6C33-B6D8-97D6-33658F88E2F3}"/>
              </a:ext>
            </a:extLst>
          </p:cNvPr>
          <p:cNvSpPr/>
          <p:nvPr/>
        </p:nvSpPr>
        <p:spPr>
          <a:xfrm>
            <a:off x="1188720" y="2999815"/>
            <a:ext cx="2743200" cy="1840362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16" name="Picture 15" descr="A picture containing black, darkness&#10;&#10;Description automatically generated">
            <a:extLst>
              <a:ext uri="{FF2B5EF4-FFF2-40B4-BE49-F238E27FC236}">
                <a16:creationId xmlns:a16="http://schemas.microsoft.com/office/drawing/2014/main" id="{9DAF0F53-B7CD-3E47-00B1-B72702663C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2304" y="2514600"/>
            <a:ext cx="1298448" cy="129844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FD26D12-1F5C-0B76-1766-8D2518E42D01}"/>
              </a:ext>
            </a:extLst>
          </p:cNvPr>
          <p:cNvSpPr/>
          <p:nvPr/>
        </p:nvSpPr>
        <p:spPr>
          <a:xfrm>
            <a:off x="7540752" y="2619756"/>
            <a:ext cx="1084933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Mario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47BE950-87C3-A18C-BAD2-463EF788DFCC}"/>
              </a:ext>
            </a:extLst>
          </p:cNvPr>
          <p:cNvSpPr/>
          <p:nvPr/>
        </p:nvSpPr>
        <p:spPr>
          <a:xfrm>
            <a:off x="7546984" y="2898494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Rossi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FA383AE-2E13-CE1D-53D8-8FDC0DF1D424}"/>
              </a:ext>
            </a:extLst>
          </p:cNvPr>
          <p:cNvSpPr/>
          <p:nvPr/>
        </p:nvSpPr>
        <p:spPr>
          <a:xfrm>
            <a:off x="7553097" y="3197092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Medicina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BEB3298-AF06-2CDD-FD7A-F4EFA5286778}"/>
              </a:ext>
            </a:extLst>
          </p:cNvPr>
          <p:cNvSpPr/>
          <p:nvPr/>
        </p:nvSpPr>
        <p:spPr>
          <a:xfrm>
            <a:off x="7540752" y="3495690"/>
            <a:ext cx="1091046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28, 25, 30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B220112A-D2FA-1A5A-4135-EFCFB3C3FABC}"/>
              </a:ext>
            </a:extLst>
          </p:cNvPr>
          <p:cNvSpPr/>
          <p:nvPr/>
        </p:nvSpPr>
        <p:spPr>
          <a:xfrm>
            <a:off x="6242304" y="2409502"/>
            <a:ext cx="2575562" cy="140354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40" name="Picture 39" descr="A picture containing black, darkness&#10;&#10;Description automatically generated">
            <a:extLst>
              <a:ext uri="{FF2B5EF4-FFF2-40B4-BE49-F238E27FC236}">
                <a16:creationId xmlns:a16="http://schemas.microsoft.com/office/drawing/2014/main" id="{7A917EE9-2403-05B3-A5A9-1E574E785F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2304" y="4251373"/>
            <a:ext cx="1298448" cy="1298448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950012DC-5B91-40C9-2F95-AFF62A82D36B}"/>
              </a:ext>
            </a:extLst>
          </p:cNvPr>
          <p:cNvSpPr/>
          <p:nvPr/>
        </p:nvSpPr>
        <p:spPr>
          <a:xfrm>
            <a:off x="7540752" y="4356529"/>
            <a:ext cx="1084933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Luigi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2C80ECE-BA91-8D22-B682-D6DDA680A6B2}"/>
              </a:ext>
            </a:extLst>
          </p:cNvPr>
          <p:cNvSpPr/>
          <p:nvPr/>
        </p:nvSpPr>
        <p:spPr>
          <a:xfrm>
            <a:off x="7546984" y="4635267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Verdi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99AB4D6-53D9-DA42-9843-5A58FAEE51DE}"/>
              </a:ext>
            </a:extLst>
          </p:cNvPr>
          <p:cNvSpPr/>
          <p:nvPr/>
        </p:nvSpPr>
        <p:spPr>
          <a:xfrm>
            <a:off x="7553097" y="4933865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Fisica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B04A7C7-DEF4-7C90-BF7C-3995786C62E9}"/>
              </a:ext>
            </a:extLst>
          </p:cNvPr>
          <p:cNvSpPr/>
          <p:nvPr/>
        </p:nvSpPr>
        <p:spPr>
          <a:xfrm>
            <a:off x="7540752" y="5232463"/>
            <a:ext cx="1091046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25, 30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79E2E8D4-3007-CC2F-A4BE-9BCC70E27CD6}"/>
              </a:ext>
            </a:extLst>
          </p:cNvPr>
          <p:cNvSpPr/>
          <p:nvPr/>
        </p:nvSpPr>
        <p:spPr>
          <a:xfrm>
            <a:off x="6242304" y="4146275"/>
            <a:ext cx="2575562" cy="140354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46" name="Right Arrow 45">
            <a:extLst>
              <a:ext uri="{FF2B5EF4-FFF2-40B4-BE49-F238E27FC236}">
                <a16:creationId xmlns:a16="http://schemas.microsoft.com/office/drawing/2014/main" id="{32834B21-876F-68CA-9334-E655ED7A7CDE}"/>
              </a:ext>
            </a:extLst>
          </p:cNvPr>
          <p:cNvSpPr/>
          <p:nvPr/>
        </p:nvSpPr>
        <p:spPr>
          <a:xfrm>
            <a:off x="4782312" y="3813048"/>
            <a:ext cx="768096" cy="429652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E569206-C769-F75E-9893-F72C4E433191}"/>
              </a:ext>
            </a:extLst>
          </p:cNvPr>
          <p:cNvSpPr txBox="1"/>
          <p:nvPr/>
        </p:nvSpPr>
        <p:spPr>
          <a:xfrm>
            <a:off x="606829" y="2329934"/>
            <a:ext cx="829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Classe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360D228-BC7F-ACF4-0070-4C394764FF87}"/>
              </a:ext>
            </a:extLst>
          </p:cNvPr>
          <p:cNvSpPr txBox="1"/>
          <p:nvPr/>
        </p:nvSpPr>
        <p:spPr>
          <a:xfrm>
            <a:off x="5178544" y="2338539"/>
            <a:ext cx="901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Istanze</a:t>
            </a:r>
          </a:p>
        </p:txBody>
      </p:sp>
    </p:spTree>
    <p:extLst>
      <p:ext uri="{BB962C8B-B14F-4D97-AF65-F5344CB8AC3E}">
        <p14:creationId xmlns:p14="http://schemas.microsoft.com/office/powerpoint/2010/main" val="92591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5099C-3DFE-9B46-0D3D-23B25FD36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CD71CDAB-ECA5-63A7-E0B6-64A0B9989D6C}"/>
              </a:ext>
            </a:extLst>
          </p:cNvPr>
          <p:cNvSpPr txBox="1"/>
          <p:nvPr/>
        </p:nvSpPr>
        <p:spPr>
          <a:xfrm>
            <a:off x="1140821" y="1933303"/>
            <a:ext cx="62527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APPENDICE · MODULO OPZIONALE: INTRODUZIONE AL FORECAST</a:t>
            </a:r>
          </a:p>
        </p:txBody>
      </p:sp>
    </p:spTree>
    <p:extLst>
      <p:ext uri="{BB962C8B-B14F-4D97-AF65-F5344CB8AC3E}">
        <p14:creationId xmlns:p14="http://schemas.microsoft.com/office/powerpoint/2010/main" val="6098078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16B02-CA3C-9479-0344-F411D9988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asellaDiTesto 7">
            <a:extLst>
              <a:ext uri="{FF2B5EF4-FFF2-40B4-BE49-F238E27FC236}">
                <a16:creationId xmlns:a16="http://schemas.microsoft.com/office/drawing/2014/main" id="{14CEE8C2-E053-F76B-7F4E-22C11225475E}"/>
              </a:ext>
            </a:extLst>
          </p:cNvPr>
          <p:cNvSpPr txBox="1"/>
          <p:nvPr/>
        </p:nvSpPr>
        <p:spPr>
          <a:xfrm>
            <a:off x="411645" y="242717"/>
            <a:ext cx="60976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/>
              <a:t>Serie Temporali/Storiche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F7562C-0511-BACC-767B-836E842D837A}"/>
              </a:ext>
            </a:extLst>
          </p:cNvPr>
          <p:cNvSpPr txBox="1"/>
          <p:nvPr/>
        </p:nvSpPr>
        <p:spPr>
          <a:xfrm>
            <a:off x="413300" y="1007906"/>
            <a:ext cx="117024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dirty="0"/>
              <a:t>Una serie temporale è una successione di dati disposti in ordine cronologico e registrati a intervalli regolari o irregolari.</a:t>
            </a:r>
          </a:p>
        </p:txBody>
      </p:sp>
      <p:pic>
        <p:nvPicPr>
          <p:cNvPr id="1026" name="Picture 2" descr="Materials for Energy Production and ...">
            <a:extLst>
              <a:ext uri="{FF2B5EF4-FFF2-40B4-BE49-F238E27FC236}">
                <a16:creationId xmlns:a16="http://schemas.microsoft.com/office/drawing/2014/main" id="{9B3D5CC1-1BDA-4F5B-8A93-8A897A34B1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6627" y="1918607"/>
            <a:ext cx="2907691" cy="1934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First Tick: Top 10 global cues for ...">
            <a:extLst>
              <a:ext uri="{FF2B5EF4-FFF2-40B4-BE49-F238E27FC236}">
                <a16:creationId xmlns:a16="http://schemas.microsoft.com/office/drawing/2014/main" id="{0E3D298A-7DD2-922B-A0DF-F85547FD8C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5919" y="1918607"/>
            <a:ext cx="2907691" cy="1934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What is the Electrical Grid? Definition ...">
            <a:extLst>
              <a:ext uri="{FF2B5EF4-FFF2-40B4-BE49-F238E27FC236}">
                <a16:creationId xmlns:a16="http://schemas.microsoft.com/office/drawing/2014/main" id="{3E6A5F8D-91DF-71F7-9A01-1FCEBE8C38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5919" y="4117913"/>
            <a:ext cx="2907691" cy="1934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Addressing the Climate Crisis | Harvard ...">
            <a:extLst>
              <a:ext uri="{FF2B5EF4-FFF2-40B4-BE49-F238E27FC236}">
                <a16:creationId xmlns:a16="http://schemas.microsoft.com/office/drawing/2014/main" id="{608AB84B-6F84-FC4E-FB77-C735C407CC2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74" r="13773"/>
          <a:stretch>
            <a:fillRect/>
          </a:stretch>
        </p:blipFill>
        <p:spPr bwMode="auto">
          <a:xfrm>
            <a:off x="2006626" y="4020849"/>
            <a:ext cx="2907691" cy="20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207163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581F1-B7E9-C361-E581-99F2D7F27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asellaDiTesto 7">
            <a:extLst>
              <a:ext uri="{FF2B5EF4-FFF2-40B4-BE49-F238E27FC236}">
                <a16:creationId xmlns:a16="http://schemas.microsoft.com/office/drawing/2014/main" id="{D171311A-BA21-71FD-65C7-61D626609972}"/>
              </a:ext>
            </a:extLst>
          </p:cNvPr>
          <p:cNvSpPr txBox="1"/>
          <p:nvPr/>
        </p:nvSpPr>
        <p:spPr>
          <a:xfrm>
            <a:off x="411645" y="242717"/>
            <a:ext cx="60976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/>
              <a:t>Forecasting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9900C5-7AAD-672D-BD9B-548F60237498}"/>
              </a:ext>
            </a:extLst>
          </p:cNvPr>
          <p:cNvSpPr txBox="1"/>
          <p:nvPr/>
        </p:nvSpPr>
        <p:spPr>
          <a:xfrm>
            <a:off x="413300" y="1007906"/>
            <a:ext cx="1170249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Il </a:t>
            </a:r>
            <a:r>
              <a:rPr lang="en-GB" dirty="0" err="1"/>
              <a:t>processo</a:t>
            </a:r>
            <a:r>
              <a:rPr lang="en-GB" dirty="0"/>
              <a:t> di forecasting </a:t>
            </a:r>
            <a:r>
              <a:rPr lang="en-GB" dirty="0" err="1"/>
              <a:t>consiste</a:t>
            </a:r>
            <a:r>
              <a:rPr lang="en-GB" dirty="0"/>
              <a:t> </a:t>
            </a:r>
            <a:r>
              <a:rPr lang="en-GB" dirty="0" err="1"/>
              <a:t>nel</a:t>
            </a:r>
            <a:r>
              <a:rPr lang="en-GB" dirty="0"/>
              <a:t> </a:t>
            </a:r>
            <a:r>
              <a:rPr lang="en-GB" b="1" dirty="0" err="1"/>
              <a:t>predire</a:t>
            </a:r>
            <a:r>
              <a:rPr lang="en-GB" b="1" dirty="0"/>
              <a:t> il </a:t>
            </a:r>
            <a:r>
              <a:rPr lang="en-GB" b="1" dirty="0" err="1"/>
              <a:t>valore</a:t>
            </a:r>
            <a:r>
              <a:rPr lang="en-GB" b="1" dirty="0"/>
              <a:t> </a:t>
            </a:r>
            <a:r>
              <a:rPr lang="en-GB" b="1" dirty="0" err="1"/>
              <a:t>futuro</a:t>
            </a:r>
            <a:r>
              <a:rPr lang="en-GB" b="1" dirty="0"/>
              <a:t> di </a:t>
            </a:r>
            <a:r>
              <a:rPr lang="en-GB" b="1" dirty="0" err="1"/>
              <a:t>una</a:t>
            </a:r>
            <a:r>
              <a:rPr lang="en-GB" b="1" dirty="0"/>
              <a:t> </a:t>
            </a:r>
            <a:r>
              <a:rPr lang="en-GB" b="1" dirty="0" err="1"/>
              <a:t>serie</a:t>
            </a:r>
            <a:r>
              <a:rPr lang="en-GB" b="1" dirty="0"/>
              <a:t> </a:t>
            </a:r>
            <a:r>
              <a:rPr lang="en-GB" b="1" dirty="0" err="1"/>
              <a:t>temporale</a:t>
            </a:r>
            <a:r>
              <a:rPr lang="en-GB" dirty="0"/>
              <a:t>, </a:t>
            </a:r>
            <a:r>
              <a:rPr lang="en-GB" dirty="0" err="1"/>
              <a:t>modellando</a:t>
            </a:r>
            <a:r>
              <a:rPr lang="en-GB" dirty="0"/>
              <a:t> la </a:t>
            </a:r>
            <a:r>
              <a:rPr lang="en-GB" dirty="0" err="1"/>
              <a:t>serie</a:t>
            </a:r>
            <a:r>
              <a:rPr lang="en-GB" dirty="0"/>
              <a:t> </a:t>
            </a:r>
            <a:r>
              <a:rPr lang="en-GB" dirty="0" err="1"/>
              <a:t>esclusivamente</a:t>
            </a:r>
            <a:r>
              <a:rPr lang="en-GB" dirty="0"/>
              <a:t> in base al </a:t>
            </a:r>
            <a:r>
              <a:rPr lang="en-GB" dirty="0" err="1"/>
              <a:t>suo</a:t>
            </a:r>
            <a:r>
              <a:rPr lang="en-GB" dirty="0"/>
              <a:t> </a:t>
            </a:r>
            <a:r>
              <a:rPr lang="en-GB" dirty="0" err="1"/>
              <a:t>comportamento</a:t>
            </a:r>
            <a:r>
              <a:rPr lang="en-GB" dirty="0"/>
              <a:t> </a:t>
            </a:r>
            <a:r>
              <a:rPr lang="en-GB" dirty="0" err="1"/>
              <a:t>passato</a:t>
            </a:r>
            <a:r>
              <a:rPr lang="en-GB" dirty="0"/>
              <a:t> (</a:t>
            </a:r>
            <a:r>
              <a:rPr lang="en-GB" b="1" dirty="0" err="1"/>
              <a:t>modello</a:t>
            </a:r>
            <a:r>
              <a:rPr lang="en-GB" b="1" dirty="0"/>
              <a:t> </a:t>
            </a:r>
            <a:r>
              <a:rPr lang="en-GB" b="1" dirty="0" err="1"/>
              <a:t>autoregressivo</a:t>
            </a:r>
            <a:r>
              <a:rPr lang="en-GB" dirty="0"/>
              <a:t>) </a:t>
            </a:r>
            <a:r>
              <a:rPr lang="en-GB" dirty="0" err="1"/>
              <a:t>oppure</a:t>
            </a:r>
            <a:r>
              <a:rPr lang="en-GB" dirty="0"/>
              <a:t> </a:t>
            </a:r>
            <a:r>
              <a:rPr lang="en-GB" dirty="0" err="1"/>
              <a:t>includendo</a:t>
            </a:r>
            <a:r>
              <a:rPr lang="en-GB" dirty="0"/>
              <a:t> </a:t>
            </a:r>
            <a:r>
              <a:rPr lang="en-GB" dirty="0" err="1"/>
              <a:t>altre</a:t>
            </a:r>
            <a:r>
              <a:rPr lang="en-GB" dirty="0"/>
              <a:t> </a:t>
            </a:r>
            <a:r>
              <a:rPr lang="en-GB" b="1" dirty="0" err="1"/>
              <a:t>variabili</a:t>
            </a:r>
            <a:r>
              <a:rPr lang="en-GB" b="1" dirty="0"/>
              <a:t> </a:t>
            </a:r>
            <a:r>
              <a:rPr lang="en-GB" b="1" dirty="0" err="1"/>
              <a:t>esterne</a:t>
            </a:r>
            <a:r>
              <a:rPr lang="en-GB" b="1" dirty="0"/>
              <a:t>.</a:t>
            </a:r>
            <a:endParaRPr lang="en-IT" b="1" dirty="0"/>
          </a:p>
        </p:txBody>
      </p:sp>
      <p:pic>
        <p:nvPicPr>
          <p:cNvPr id="2052" name="Picture 4" descr="Hands-on Time Series Forecasting with Python | by Idil Ismiguzel | TDS  Archive | Medium">
            <a:extLst>
              <a:ext uri="{FF2B5EF4-FFF2-40B4-BE49-F238E27FC236}">
                <a16:creationId xmlns:a16="http://schemas.microsoft.com/office/drawing/2014/main" id="{C42BD4A9-9FF6-726F-99E5-B5D9A4A89E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645" y="2327093"/>
            <a:ext cx="6435469" cy="3217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79E179C-0D52-0089-1168-B2F86D502F95}"/>
              </a:ext>
            </a:extLst>
          </p:cNvPr>
          <p:cNvSpPr txBox="1"/>
          <p:nvPr/>
        </p:nvSpPr>
        <p:spPr>
          <a:xfrm>
            <a:off x="7611126" y="2327093"/>
            <a:ext cx="4169229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dirty="0"/>
              <a:t>I </a:t>
            </a:r>
            <a:r>
              <a:rPr lang="en-IT" b="1" dirty="0"/>
              <a:t>dati storici </a:t>
            </a:r>
            <a:r>
              <a:rPr lang="en-IT" dirty="0"/>
              <a:t>vengono utilizzati per ottenere una </a:t>
            </a:r>
            <a:r>
              <a:rPr lang="en-IT" b="1" dirty="0"/>
              <a:t>rappresentazione matematica</a:t>
            </a:r>
            <a:r>
              <a:rPr lang="en-IT" dirty="0"/>
              <a:t> in grado di prevedere i valori futuri, al fine di creare un modello di previsione. </a:t>
            </a:r>
          </a:p>
          <a:p>
            <a:endParaRPr lang="en-IT" dirty="0"/>
          </a:p>
          <a:p>
            <a:r>
              <a:rPr lang="en-IT" dirty="0"/>
              <a:t>Questa idea si basa sul presupposto che il </a:t>
            </a:r>
            <a:r>
              <a:rPr lang="en-IT" b="1" dirty="0"/>
              <a:t>comportamento futuro </a:t>
            </a:r>
            <a:r>
              <a:rPr lang="en-IT" dirty="0"/>
              <a:t>di un fenomeno possa essere </a:t>
            </a:r>
            <a:r>
              <a:rPr lang="en-IT" b="1" dirty="0"/>
              <a:t>spiegato dal suo comportamento passato.</a:t>
            </a:r>
          </a:p>
        </p:txBody>
      </p:sp>
    </p:spTree>
    <p:extLst>
      <p:ext uri="{BB962C8B-B14F-4D97-AF65-F5344CB8AC3E}">
        <p14:creationId xmlns:p14="http://schemas.microsoft.com/office/powerpoint/2010/main" val="21664458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F68F7-83AC-49A1-B472-FC9FB698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asellaDiTesto 7">
            <a:extLst>
              <a:ext uri="{FF2B5EF4-FFF2-40B4-BE49-F238E27FC236}">
                <a16:creationId xmlns:a16="http://schemas.microsoft.com/office/drawing/2014/main" id="{4E01D9C1-BDE4-20CA-AD3F-72A9652853D0}"/>
              </a:ext>
            </a:extLst>
          </p:cNvPr>
          <p:cNvSpPr txBox="1"/>
          <p:nvPr/>
        </p:nvSpPr>
        <p:spPr>
          <a:xfrm>
            <a:off x="411645" y="242717"/>
            <a:ext cx="60976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/>
              <a:t>Componenti del forecast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8F1AB3-7FD0-2613-A44E-22EFFE582DEC}"/>
              </a:ext>
            </a:extLst>
          </p:cNvPr>
          <p:cNvSpPr txBox="1"/>
          <p:nvPr/>
        </p:nvSpPr>
        <p:spPr>
          <a:xfrm>
            <a:off x="1654627" y="1165162"/>
            <a:ext cx="9144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effectLst/>
                <a:latin typeface="Helvetica" pitchFamily="2" charset="0"/>
              </a:rPr>
              <a:t>Forecast = </a:t>
            </a:r>
            <a:r>
              <a:rPr lang="en-GB" sz="2400" dirty="0">
                <a:solidFill>
                  <a:schemeClr val="accent1">
                    <a:lumMod val="75000"/>
                  </a:schemeClr>
                </a:solidFill>
                <a:effectLst/>
                <a:latin typeface="Helvetica" pitchFamily="2" charset="0"/>
              </a:rPr>
              <a:t>patterns </a:t>
            </a:r>
            <a:r>
              <a:rPr lang="en-GB" sz="2400" dirty="0" err="1">
                <a:solidFill>
                  <a:schemeClr val="accent1">
                    <a:lumMod val="75000"/>
                  </a:schemeClr>
                </a:solidFill>
                <a:effectLst/>
                <a:latin typeface="Helvetica" pitchFamily="2" charset="0"/>
              </a:rPr>
              <a:t>nella</a:t>
            </a:r>
            <a:r>
              <a:rPr lang="en-GB" sz="2400" dirty="0">
                <a:solidFill>
                  <a:schemeClr val="accent1">
                    <a:lumMod val="75000"/>
                  </a:schemeClr>
                </a:solidFill>
                <a:effectLst/>
                <a:latin typeface="Helvetica" pitchFamily="2" charset="0"/>
              </a:rPr>
              <a:t> </a:t>
            </a:r>
            <a:r>
              <a:rPr lang="en-GB" sz="2400" dirty="0" err="1">
                <a:solidFill>
                  <a:schemeClr val="accent1">
                    <a:lumMod val="75000"/>
                  </a:schemeClr>
                </a:solidFill>
                <a:effectLst/>
                <a:latin typeface="Helvetica" pitchFamily="2" charset="0"/>
              </a:rPr>
              <a:t>serie</a:t>
            </a:r>
            <a:r>
              <a:rPr lang="en-GB" sz="2400" dirty="0">
                <a:solidFill>
                  <a:schemeClr val="accent1">
                    <a:lumMod val="75000"/>
                  </a:schemeClr>
                </a:solidFill>
                <a:effectLst/>
                <a:latin typeface="Helvetica" pitchFamily="2" charset="0"/>
              </a:rPr>
              <a:t> </a:t>
            </a:r>
            <a:r>
              <a:rPr lang="en-GB" sz="2400" dirty="0">
                <a:effectLst/>
                <a:latin typeface="Helvetica" pitchFamily="2" charset="0"/>
              </a:rPr>
              <a:t>+ </a:t>
            </a:r>
            <a:r>
              <a:rPr lang="en-GB" sz="2400" dirty="0" err="1">
                <a:solidFill>
                  <a:srgbClr val="FF0000"/>
                </a:solidFill>
                <a:effectLst/>
                <a:latin typeface="Helvetica" pitchFamily="2" charset="0"/>
              </a:rPr>
              <a:t>varianza</a:t>
            </a:r>
            <a:r>
              <a:rPr lang="en-GB" sz="2400" dirty="0">
                <a:solidFill>
                  <a:srgbClr val="FF0000"/>
                </a:solidFill>
                <a:effectLst/>
                <a:latin typeface="Helvetica" pitchFamily="2" charset="0"/>
              </a:rPr>
              <a:t> non </a:t>
            </a:r>
            <a:r>
              <a:rPr lang="en-GB" sz="2400" dirty="0" err="1">
                <a:solidFill>
                  <a:srgbClr val="FF0000"/>
                </a:solidFill>
                <a:effectLst/>
                <a:latin typeface="Helvetica" pitchFamily="2" charset="0"/>
              </a:rPr>
              <a:t>spiegata</a:t>
            </a:r>
            <a:endParaRPr lang="en-GB" sz="2400" dirty="0">
              <a:solidFill>
                <a:srgbClr val="FF0000"/>
              </a:solidFill>
              <a:effectLst/>
              <a:latin typeface="Helvetica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43DF48-3294-ACB3-6BC1-4EA708FD723E}"/>
              </a:ext>
            </a:extLst>
          </p:cNvPr>
          <p:cNvSpPr txBox="1"/>
          <p:nvPr/>
        </p:nvSpPr>
        <p:spPr>
          <a:xfrm>
            <a:off x="413300" y="2179940"/>
            <a:ext cx="112561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Il primo </a:t>
            </a:r>
            <a:r>
              <a:rPr lang="en-GB" dirty="0" err="1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termine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 </a:t>
            </a:r>
            <a:r>
              <a:rPr lang="en-GB" dirty="0" err="1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dell’equazione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 </a:t>
            </a:r>
            <a:r>
              <a:rPr lang="en-GB" dirty="0" err="1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si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 </a:t>
            </a:r>
            <a:r>
              <a:rPr lang="en-GB" dirty="0" err="1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riferisce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 a </a:t>
            </a:r>
            <a:r>
              <a:rPr lang="en-GB" dirty="0" err="1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qualsiasi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 </a:t>
            </a:r>
            <a:r>
              <a:rPr lang="en-GB" dirty="0" err="1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elemento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 </a:t>
            </a:r>
            <a:r>
              <a:rPr lang="en-GB" dirty="0" err="1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che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 </a:t>
            </a:r>
            <a:r>
              <a:rPr lang="en-GB" dirty="0" err="1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si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 </a:t>
            </a:r>
            <a:r>
              <a:rPr lang="en-GB" dirty="0" err="1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ripete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 </a:t>
            </a:r>
            <a:r>
              <a:rPr lang="en-GB" dirty="0" err="1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nel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 tempo (trend, </a:t>
            </a:r>
            <a:r>
              <a:rPr lang="en-GB" dirty="0" err="1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stagionalità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, </a:t>
            </a:r>
            <a:r>
              <a:rPr lang="en-GB" dirty="0" err="1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fattori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 </a:t>
            </a:r>
            <a:r>
              <a:rPr lang="en-GB" dirty="0" err="1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ciclici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, </a:t>
            </a:r>
            <a:r>
              <a:rPr lang="en-GB" dirty="0" err="1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ecc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.). </a:t>
            </a:r>
            <a:r>
              <a:rPr lang="en-GB" dirty="0" err="1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Questo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 </a:t>
            </a:r>
            <a:r>
              <a:rPr lang="en-GB" dirty="0" err="1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è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 </a:t>
            </a:r>
            <a:r>
              <a:rPr lang="en-GB" dirty="0" err="1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noto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 come </a:t>
            </a:r>
            <a:r>
              <a:rPr lang="en-GB" b="1" dirty="0" err="1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componente</a:t>
            </a:r>
            <a:r>
              <a:rPr lang="en-GB" b="1" dirty="0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 </a:t>
            </a:r>
            <a:r>
              <a:rPr lang="en-GB" b="1" dirty="0" err="1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autoregressiva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  <a:latin typeface="Helvetica" pitchFamily="2" charset="0"/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71B366-EF1A-5433-2DFC-AB3F387AE457}"/>
              </a:ext>
            </a:extLst>
          </p:cNvPr>
          <p:cNvSpPr txBox="1"/>
          <p:nvPr/>
        </p:nvSpPr>
        <p:spPr>
          <a:xfrm>
            <a:off x="411645" y="3105834"/>
            <a:ext cx="110058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dirty="0">
                <a:solidFill>
                  <a:srgbClr val="FF0000"/>
                </a:solidFill>
                <a:latin typeface="Helvetica" pitchFamily="2" charset="0"/>
              </a:rPr>
              <a:t>Il secondo termine rappresenta tutto ciò che influenza la serie ma che non è catturato (spiegato) dai suoi valori passati.</a:t>
            </a:r>
          </a:p>
        </p:txBody>
      </p:sp>
    </p:spTree>
    <p:extLst>
      <p:ext uri="{BB962C8B-B14F-4D97-AF65-F5344CB8AC3E}">
        <p14:creationId xmlns:p14="http://schemas.microsoft.com/office/powerpoint/2010/main" val="36433362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6C6A9-3D68-6697-644E-4EE0C8EC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asellaDiTesto 7">
            <a:extLst>
              <a:ext uri="{FF2B5EF4-FFF2-40B4-BE49-F238E27FC236}">
                <a16:creationId xmlns:a16="http://schemas.microsoft.com/office/drawing/2014/main" id="{6C344E88-7B39-A700-CA3E-2D36F1B8AD6A}"/>
              </a:ext>
            </a:extLst>
          </p:cNvPr>
          <p:cNvSpPr txBox="1"/>
          <p:nvPr/>
        </p:nvSpPr>
        <p:spPr>
          <a:xfrm>
            <a:off x="411645" y="242717"/>
            <a:ext cx="60976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/>
              <a:t>Componenti del forecast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8B248E-9CAA-0C9A-9610-FF6D2D35D8B9}"/>
              </a:ext>
            </a:extLst>
          </p:cNvPr>
          <p:cNvSpPr txBox="1"/>
          <p:nvPr/>
        </p:nvSpPr>
        <p:spPr>
          <a:xfrm>
            <a:off x="1610906" y="1371324"/>
            <a:ext cx="91440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effectLst/>
                <a:latin typeface="Helvetica" pitchFamily="2" charset="0"/>
              </a:rPr>
              <a:t>Forecast = </a:t>
            </a:r>
            <a:r>
              <a:rPr lang="en-GB" sz="2400" dirty="0">
                <a:solidFill>
                  <a:schemeClr val="accent1">
                    <a:lumMod val="75000"/>
                  </a:schemeClr>
                </a:solidFill>
                <a:effectLst/>
                <a:latin typeface="Helvetica" pitchFamily="2" charset="0"/>
              </a:rPr>
              <a:t>patterns </a:t>
            </a:r>
            <a:r>
              <a:rPr lang="en-GB" sz="2400" dirty="0" err="1">
                <a:solidFill>
                  <a:schemeClr val="accent1">
                    <a:lumMod val="75000"/>
                  </a:schemeClr>
                </a:solidFill>
                <a:effectLst/>
                <a:latin typeface="Helvetica" pitchFamily="2" charset="0"/>
              </a:rPr>
              <a:t>nella</a:t>
            </a:r>
            <a:r>
              <a:rPr lang="en-GB" sz="2400" dirty="0">
                <a:solidFill>
                  <a:schemeClr val="accent1">
                    <a:lumMod val="75000"/>
                  </a:schemeClr>
                </a:solidFill>
                <a:effectLst/>
                <a:latin typeface="Helvetica" pitchFamily="2" charset="0"/>
              </a:rPr>
              <a:t> </a:t>
            </a:r>
            <a:r>
              <a:rPr lang="en-GB" sz="2400" dirty="0" err="1">
                <a:solidFill>
                  <a:schemeClr val="accent1">
                    <a:lumMod val="75000"/>
                  </a:schemeClr>
                </a:solidFill>
                <a:effectLst/>
                <a:latin typeface="Helvetica" pitchFamily="2" charset="0"/>
              </a:rPr>
              <a:t>serie</a:t>
            </a:r>
            <a:r>
              <a:rPr lang="en-GB" sz="2400" dirty="0">
                <a:solidFill>
                  <a:schemeClr val="accent1">
                    <a:lumMod val="75000"/>
                  </a:schemeClr>
                </a:solidFill>
                <a:effectLst/>
                <a:latin typeface="Helvetica" pitchFamily="2" charset="0"/>
              </a:rPr>
              <a:t> </a:t>
            </a:r>
            <a:r>
              <a:rPr lang="en-GB" sz="2400" dirty="0">
                <a:effectLst/>
                <a:latin typeface="Helvetica" pitchFamily="2" charset="0"/>
              </a:rPr>
              <a:t>+ </a:t>
            </a:r>
            <a:r>
              <a:rPr lang="en-GB" sz="2400" dirty="0" err="1">
                <a:solidFill>
                  <a:srgbClr val="FF0000"/>
                </a:solidFill>
                <a:effectLst/>
                <a:latin typeface="Helvetica" pitchFamily="2" charset="0"/>
              </a:rPr>
              <a:t>varianza</a:t>
            </a:r>
            <a:r>
              <a:rPr lang="en-GB" sz="2400" dirty="0">
                <a:solidFill>
                  <a:srgbClr val="FF0000"/>
                </a:solidFill>
                <a:effectLst/>
                <a:latin typeface="Helvetica" pitchFamily="2" charset="0"/>
              </a:rPr>
              <a:t> non </a:t>
            </a:r>
            <a:r>
              <a:rPr lang="en-GB" sz="2400" dirty="0" err="1">
                <a:solidFill>
                  <a:srgbClr val="FF0000"/>
                </a:solidFill>
                <a:effectLst/>
                <a:latin typeface="Helvetica" pitchFamily="2" charset="0"/>
              </a:rPr>
              <a:t>spiegata</a:t>
            </a:r>
            <a:endParaRPr lang="en-GB" sz="2400" dirty="0">
              <a:solidFill>
                <a:srgbClr val="FF0000"/>
              </a:solidFill>
              <a:effectLst/>
              <a:latin typeface="Helvetic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8D0513-FC5B-6A5F-1F11-A45AD6CE2778}"/>
              </a:ext>
            </a:extLst>
          </p:cNvPr>
          <p:cNvSpPr txBox="1"/>
          <p:nvPr/>
        </p:nvSpPr>
        <p:spPr>
          <a:xfrm>
            <a:off x="413300" y="2624354"/>
            <a:ext cx="11539214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T" sz="2000" dirty="0"/>
              <a:t>Maggiore è l'importanza del primo termine rispetto al secondo, maggiore sarà la probabilità di successo nella creazione di modelli predittivi autoregressivi.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T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T" sz="2000" dirty="0"/>
              <a:t>Man mano che il secondo termine acquisisce importanza, diventa necessario includere nel modello variabili aggiuntive (se presenti) per aiutare a spiegare il comportamento osservato.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T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T" sz="2000" dirty="0"/>
              <a:t>Una buona analisi del fenomeno da modellare e la capacità di riconoscere fino a che punto esso sia influenzato da </a:t>
            </a:r>
            <a:r>
              <a:rPr lang="en-IT" sz="2000" b="1" dirty="0"/>
              <a:t>fattori interni </a:t>
            </a:r>
            <a:r>
              <a:rPr lang="en-IT" sz="2000" dirty="0"/>
              <a:t>(</a:t>
            </a:r>
            <a:r>
              <a:rPr lang="en-IT" sz="2000" b="1" dirty="0"/>
              <a:t>autoregressivi</a:t>
            </a:r>
            <a:r>
              <a:rPr lang="en-IT" sz="2000" dirty="0"/>
              <a:t>) o </a:t>
            </a:r>
            <a:r>
              <a:rPr lang="en-IT" sz="2000" b="1" dirty="0"/>
              <a:t>esterni</a:t>
            </a:r>
            <a:r>
              <a:rPr lang="en-IT" sz="2000" dirty="0"/>
              <a:t> (</a:t>
            </a:r>
            <a:r>
              <a:rPr lang="en-IT" sz="2000" b="1" dirty="0"/>
              <a:t>non catturati nei dati storici</a:t>
            </a:r>
            <a:r>
              <a:rPr lang="en-IT" sz="2000" dirty="0"/>
              <a:t>) sono fondamentali per costruire un modello efficace.</a:t>
            </a:r>
          </a:p>
        </p:txBody>
      </p:sp>
    </p:spTree>
    <p:extLst>
      <p:ext uri="{BB962C8B-B14F-4D97-AF65-F5344CB8AC3E}">
        <p14:creationId xmlns:p14="http://schemas.microsoft.com/office/powerpoint/2010/main" val="31137113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2719656"/>
      </p:ext>
    </p:extLst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IL PROBLEMA: SUL MIO PC FUNZIONA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Lo script del collega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Usa pandas, numpy e requests: librerie che non arrivano insieme a Python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Sul suo PC gira, sul tuo no: lui ha pandas 1.5, tu la 3.0 o nessuna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Quale Python, quali librerie, quali versioni: nessuno lo ha scritto da nessuna parte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La risposta: un ambiente per progetto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Ogni progetto ha la sua cartella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con il suo Python e le sue librerie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Le dipendenze stanno in un file,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pyproject.toml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; le versioni esatte in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uv.lock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Chi apre il progetto ricostruisce lo stesso ambiente, oggi e tra un anno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GLI STRUMENTI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Quattro strumenti per lo stesso lavoro: Python, ambiente e librerie di un progetto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6829" y="1920240"/>
          <a:ext cx="11365992" cy="288036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1600200"/>
                <a:gridCol w="2441448"/>
                <a:gridCol w="2441448"/>
                <a:gridCol w="2441448"/>
                <a:gridCol w="2441448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/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pip + venv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conda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poetry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uv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Cosa fa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Installa librerie in un ambiente virtuale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Ambienti con Python e librerie, anche non Python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Progetto, dipendenze e lockfile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Python, ambiente, dipendenze e lockfile in un solo binario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Lockfile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No, requirements.txt scritto a mano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Parziale (environment.yml)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 (poetry.lock)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 (uv.lock)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Gestisce Python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Velocità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Media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Bassa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Media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Molto alta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Maturità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Lo standard, da sempre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Dal 2012, diffuso nel mondo scientifico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Dal 2018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Dal 2024, adozione rapidissima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Quando ha senso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Script piccoli, nessuno strumento in più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Pacchetti non Python: C, CUDA, R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Progetti che già lo usano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Progetti nuovi, e questo corso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UV IN PRATICA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Un solo strumento per Python, ambiente, dipendenze e lockfile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6829" y="1965960"/>
          <a:ext cx="11338560" cy="24688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566160"/>
                <a:gridCol w="777240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python install 3.13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Scarica Python 3.13, senza toccare quello del sistema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init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Crea un progetto: pyproject.toml e .python-version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add pandas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Aggiunge pandas alle dipendenze, aggiorna uv.lock e il .venv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sync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Ricostruisce il .venv esatto descritto da uv.lock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run script.py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Esegue lo script nell'ambiente del progetto, senza attivarlo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uvx ruff check .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Lancia uno strumento (qui Ruff) senza installarlo nel progetto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Corpo"/>
          <p:cNvSpPr txBox="1"/>
          <p:nvPr/>
        </p:nvSpPr>
        <p:spPr>
          <a:xfrm>
            <a:off x="606829" y="4709160"/>
            <a:ext cx="1136349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Niente </a:t>
            </a:r>
            <a:r>
              <a:rPr sz="1800" b="1">
                <a:solidFill>
                  <a:srgbClr val="374151"/>
                </a:solidFill>
                <a:latin typeface="Consolas"/>
                <a:cs typeface="Consolas"/>
              </a:rPr>
              <a:t>pip install</a:t>
            </a: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 nel notebook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nel terminale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 add nome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poi </a:t>
            </a: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Restart kernel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PERCHÉ È VELOCE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Tre scelte tecniche, nessuna magia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Resolver scritto in Rust: trova le versioni compatibili in una frazione di secondo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Download paralleli: le librerie arrivano tutte insieme, non una alla volta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Cache globale: una libreria già scaricata non si scarica più, si collega (hard link)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Cosa cambia per noi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Creare il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del corso richiede secondi, anche con pandas e Plotly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 sync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ricostruisce lo stesso ambiente su trenta PC, Windows e Mac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Se qualcosa si rompe: cancelli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rilanci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 sync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sei al punto di partenza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SETUP DEL CORSO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1. Installare uv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Windows: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winget install astral-sh.uv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   Mac: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brew install uv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2. Scaricare il repo del corso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Lo zip da GitHub, scompattato in una cartella tua, per esempio Documenti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3. Aprire la cartella in VS Code</a:t>
            </a:r>
          </a:p>
          <a:p>
            <a:pPr algn="l" marL="342900" indent="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File → Apri cartella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; estensioni Python e Jupyter installate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4. Nel terminale di VS Code: </a:t>
            </a:r>
            <a:r>
              <a:rPr sz="1800" b="1">
                <a:solidFill>
                  <a:srgbClr val="374151"/>
                </a:solidFill>
                <a:latin typeface="Consolas"/>
                <a:cs typeface="Consolas"/>
              </a:rPr>
              <a:t>uv sync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Crea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con Python 3.13 e tutte le librerie del corso, in pochi secondi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5. Scegliere il kernel e verificare</a:t>
            </a:r>
          </a:p>
          <a:p>
            <a:pPr algn="l" marL="342900" indent="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Select Kernel → Python Environments → .venv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Prima cella: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import sys; print(sys.executable)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deve contenere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AGENTI PER IL CODING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Cosa sono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GitHub Copilot in VS Code, Claude Code, Codex: la stessa cosa in tre vestiti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Un modello di linguaggio che legge il tuo codice e ne scrive altro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Per giudicare il codice che propongono serve il vocabolario dei primi tre blocchi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Tre modi di usarli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Completamento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scrivi l'inizio di una riga, propone il resto, </a:t>
            </a: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Tab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per accettare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Chat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una domanda sul codice aperto, una risposta con un esempio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Modalità agent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un compito, e lui scrive i file, lancia i comandi, legge gli errori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LE PAROLE DA SAPERE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Token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pezzo di parola, circa quattro caratteri; il modello legge e scrive token, non frasi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Finestra di contesto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quanto tiene in memoria in una volta; ciò che non ci sta, non lo sa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Cache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la parte ripetuta del contesto costa meno; non lo rende più bravo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Modello piccolo vs grande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piccolo e veloce per completare una riga, grande per ragionare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Plan vs agent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in plan descrive cosa farebbe e tu leggi; in agent lo fa, scrive file e lancia comandi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Prompt engineering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dire bene cosa vuoi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Context engineering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dargli il materiale giusto: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head()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del dato, nomi delle colonne, traceback intero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TRE REGOLE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1. Verifica</a:t>
            </a:r>
          </a:p>
          <a:p>
            <a:pPr algn="l" marL="342900" indent="0">
              <a:buNone/>
            </a:pP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Esegui il codice, guarda </a:t>
            </a:r>
            <a:r>
              <a:rPr sz="2000" b="0">
                <a:solidFill>
                  <a:srgbClr val="374151"/>
                </a:solidFill>
                <a:latin typeface="Consolas"/>
                <a:cs typeface="Consolas"/>
              </a:rPr>
              <a:t>head()</a:t>
            </a: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, controlla una somma a mano</a:t>
            </a:r>
          </a:p>
          <a:p>
            <a:pPr algn="l"/>
            <a:endParaRPr sz="14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2. Chiedi spiegazioni</a:t>
            </a:r>
          </a:p>
          <a:p>
            <a:pPr algn="l" marL="342900" indent="0">
              <a:buNone/>
            </a:pP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Finché non sapresti riscriverlo da solo, riga per riga</a:t>
            </a:r>
          </a:p>
          <a:p>
            <a:pPr algn="l"/>
            <a:endParaRPr sz="14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3. Piccoli passi</a:t>
            </a:r>
          </a:p>
          <a:p>
            <a:pPr algn="l" marL="342900" indent="0">
              <a:buNone/>
            </a:pP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Una cella alla volta; mai “fammi tutta l'analisi”</a:t>
            </a:r>
          </a:p>
          <a:p>
            <a:pPr algn="l"/>
            <a:endParaRPr sz="1400" lang="it-IT"/>
          </a:p>
          <a:p>
            <a:pPr algn="l"/>
            <a:endParaRPr sz="14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Codice che non capisci non è tuo, ma in produzione il problema sarà tuo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IL CAPSTONE: IL CARICO DEL NORD E LA TEMPERATURA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La domanda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quanto pesa la temperatura sul carico elettrico della zona Nord</a:t>
            </a:r>
          </a:p>
          <a:p>
            <a:pPr algn="l"/>
            <a:endParaRPr sz="1200" lang="it-IT"/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1. Caricare e unire i dati Terna 2024 e 2025: zona Nord, quartorari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2. Pulizia temporale: ordinare, togliere i duplicati dell'ora legale, contare i buchi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3. Serie giornaliera: da MW quartorari a MWh al giorno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4. Profili medi: per ora del giorno e per giorno della settimana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5. Temperatura oraria da Open-Meteo: API con requests, file di riserva se manca la rete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6. Unione: carico e temperatura sulla stessa riga, giorno per giorno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7. Relazione carico-temperatura: scatter con Plotly e sintesi in tre righe per il capo</a:t>
            </a:r>
          </a:p>
          <a:p>
            <a:pPr algn="l"/>
            <a:endParaRPr sz="1200" lang="it-IT"/>
          </a:p>
          <a:p>
            <a:pPr algn="l"/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A ogni passo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questo l'ho già fatto, in piccolo, durante il corso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ersonalizzato 1">
      <a:majorFont>
        <a:latin typeface="Lato Black"/>
        <a:ea typeface=""/>
        <a:cs typeface=""/>
      </a:majorFont>
      <a:minorFont>
        <a:latin typeface="La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ersonalizza struttur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2433660c-feb5-4128-8540-15a171772da6" xsi:nil="true"/>
    <lcf76f155ced4ddcb4097134ff3c332f xmlns="e4231d99-7c26-474c-b5f4-3357e8fa85e0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1E5CD625E675A42B6040BD7E58EFFBA" ma:contentTypeVersion="12" ma:contentTypeDescription="Creare un nuovo documento." ma:contentTypeScope="" ma:versionID="fb807d1fa8a06276b1e97d58e4ac795d">
  <xsd:schema xmlns:xsd="http://www.w3.org/2001/XMLSchema" xmlns:xs="http://www.w3.org/2001/XMLSchema" xmlns:p="http://schemas.microsoft.com/office/2006/metadata/properties" xmlns:ns2="e4231d99-7c26-474c-b5f4-3357e8fa85e0" xmlns:ns3="2433660c-feb5-4128-8540-15a171772da6" targetNamespace="http://schemas.microsoft.com/office/2006/metadata/properties" ma:root="true" ma:fieldsID="954fedd8067609b9d82db79984110376" ns2:_="" ns3:_="">
    <xsd:import namespace="e4231d99-7c26-474c-b5f4-3357e8fa85e0"/>
    <xsd:import namespace="2433660c-feb5-4128-8540-15a171772da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LengthInSecond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231d99-7c26-474c-b5f4-3357e8fa85e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LengthInSeconds" ma:index="1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Tag immagine" ma:readOnly="false" ma:fieldId="{5cf76f15-5ced-4ddc-b409-7134ff3c332f}" ma:taxonomyMulti="true" ma:sspId="e92e9c1d-0a16-416f-8786-90fcd36246f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433660c-feb5-4128-8540-15a171772da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c391645e-5bfa-426b-8620-88ebf7d65de1}" ma:internalName="TaxCatchAll" ma:showField="CatchAllData" ma:web="2433660c-feb5-4128-8540-15a171772da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Condivis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Condiviso con dettagli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B7929D8-7F94-4DD8-89C5-765AD6E14F6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550C1AF-50D7-4AF8-99E6-A8110CED6891}">
  <ds:schemaRefs>
    <ds:schemaRef ds:uri="http://schemas.microsoft.com/office/2006/metadata/properties"/>
    <ds:schemaRef ds:uri="http://schemas.microsoft.com/office/infopath/2007/PartnerControls"/>
    <ds:schemaRef ds:uri="2433660c-feb5-4128-8540-15a171772da6"/>
    <ds:schemaRef ds:uri="e4231d99-7c26-474c-b5f4-3357e8fa85e0"/>
  </ds:schemaRefs>
</ds:datastoreItem>
</file>

<file path=customXml/itemProps3.xml><?xml version="1.0" encoding="utf-8"?>
<ds:datastoreItem xmlns:ds="http://schemas.openxmlformats.org/officeDocument/2006/customXml" ds:itemID="{39638608-AC74-4D89-871F-5A43E986A90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4231d99-7c26-474c-b5f4-3357e8fa85e0"/>
    <ds:schemaRef ds:uri="2433660c-feb5-4128-8540-15a171772da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8931</TotalTime>
  <Words>718</Words>
  <Application>Microsoft Office PowerPoint</Application>
  <PresentationFormat>Widescreen</PresentationFormat>
  <Paragraphs>92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3" baseType="lpstr">
      <vt:lpstr>Arial</vt:lpstr>
      <vt:lpstr>Calibri</vt:lpstr>
      <vt:lpstr>Calibri Light</vt:lpstr>
      <vt:lpstr>Helvetica</vt:lpstr>
      <vt:lpstr>Lato</vt:lpstr>
      <vt:lpstr>Lato Black</vt:lpstr>
      <vt:lpstr>-webkit-standard</vt:lpstr>
      <vt:lpstr>Wingdings</vt:lpstr>
      <vt:lpstr>Tema di Office</vt:lpstr>
      <vt:lpstr>Personalizza struttura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Camilla Ferraro</dc:creator>
  <cp:lastModifiedBy>Corvaglia Andrea</cp:lastModifiedBy>
  <cp:revision>35</cp:revision>
  <dcterms:created xsi:type="dcterms:W3CDTF">2022-12-16T09:28:59Z</dcterms:created>
  <dcterms:modified xsi:type="dcterms:W3CDTF">2026-01-19T09:14:31Z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0x01010041E5CD625E675A42B6040BD7E58EFFBA</vt:lpwstr>
  </property>
</Properties>
</file>